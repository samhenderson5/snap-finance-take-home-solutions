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2.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5.xml" ContentType="application/vnd.openxmlformats-officedocument.presentationml.notesSlide+xml"/>
  <Override PartName="/ppt/charts/chart4.xml" ContentType="application/vnd.openxmlformats-officedocument.drawingml.char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10"/>
  </p:notesMasterIdLst>
  <p:sldIdLst>
    <p:sldId id="266" r:id="rId2"/>
    <p:sldId id="262" r:id="rId3"/>
    <p:sldId id="258" r:id="rId4"/>
    <p:sldId id="259" r:id="rId5"/>
    <p:sldId id="260" r:id="rId6"/>
    <p:sldId id="264" r:id="rId7"/>
    <p:sldId id="265" r:id="rId8"/>
    <p:sldId id="267" r:id="rId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944"/>
    <p:restoredTop sz="94643"/>
  </p:normalViewPr>
  <p:slideViewPr>
    <p:cSldViewPr snapToGrid="0">
      <p:cViewPr varScale="1">
        <p:scale>
          <a:sx n="105" d="100"/>
          <a:sy n="105" d="100"/>
        </p:scale>
        <p:origin x="336"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Sheet1!$B$1</c:f>
              <c:strCache>
                <c:ptCount val="1"/>
                <c:pt idx="0">
                  <c:v>Applications</c:v>
                </c:pt>
              </c:strCache>
            </c:strRef>
          </c:tx>
          <c:spPr>
            <a:ln w="28575" cap="rnd">
              <a:solidFill>
                <a:schemeClr val="accent3"/>
              </a:solidFill>
              <a:round/>
            </a:ln>
            <a:effectLst/>
          </c:spPr>
          <c:marker>
            <c:symbol val="none"/>
          </c:marker>
          <c:cat>
            <c:strRef>
              <c:f>Sheet1!$A$2:$A$25</c:f>
              <c:strCache>
                <c:ptCount val="24"/>
                <c:pt idx="0">
                  <c:v>2022-01</c:v>
                </c:pt>
                <c:pt idx="1">
                  <c:v>2022-02</c:v>
                </c:pt>
                <c:pt idx="2">
                  <c:v>2022-03</c:v>
                </c:pt>
                <c:pt idx="3">
                  <c:v>2022-04</c:v>
                </c:pt>
                <c:pt idx="4">
                  <c:v>2022-05</c:v>
                </c:pt>
                <c:pt idx="5">
                  <c:v>2022-06</c:v>
                </c:pt>
                <c:pt idx="6">
                  <c:v>2022-07</c:v>
                </c:pt>
                <c:pt idx="7">
                  <c:v>2022-08</c:v>
                </c:pt>
                <c:pt idx="8">
                  <c:v>2022-09</c:v>
                </c:pt>
                <c:pt idx="9">
                  <c:v>2022-10</c:v>
                </c:pt>
                <c:pt idx="10">
                  <c:v>2022-11</c:v>
                </c:pt>
                <c:pt idx="11">
                  <c:v>2022-12</c:v>
                </c:pt>
                <c:pt idx="12">
                  <c:v>2023-01</c:v>
                </c:pt>
                <c:pt idx="13">
                  <c:v>2023-02</c:v>
                </c:pt>
                <c:pt idx="14">
                  <c:v>2023-03</c:v>
                </c:pt>
                <c:pt idx="15">
                  <c:v>2023-04</c:v>
                </c:pt>
                <c:pt idx="16">
                  <c:v>2023-05</c:v>
                </c:pt>
                <c:pt idx="17">
                  <c:v>2023-06</c:v>
                </c:pt>
                <c:pt idx="18">
                  <c:v>2023-07</c:v>
                </c:pt>
                <c:pt idx="19">
                  <c:v>2023-08</c:v>
                </c:pt>
                <c:pt idx="20">
                  <c:v>2023-09</c:v>
                </c:pt>
                <c:pt idx="21">
                  <c:v>2023-10</c:v>
                </c:pt>
                <c:pt idx="22">
                  <c:v>2023-11</c:v>
                </c:pt>
                <c:pt idx="23">
                  <c:v>2023-12</c:v>
                </c:pt>
              </c:strCache>
            </c:strRef>
          </c:cat>
          <c:val>
            <c:numRef>
              <c:f>Sheet1!$B$2:$B$25</c:f>
              <c:numCache>
                <c:formatCode>General</c:formatCode>
                <c:ptCount val="24"/>
                <c:pt idx="0">
                  <c:v>2775</c:v>
                </c:pt>
                <c:pt idx="1">
                  <c:v>2514</c:v>
                </c:pt>
                <c:pt idx="2">
                  <c:v>2723</c:v>
                </c:pt>
                <c:pt idx="3">
                  <c:v>2693</c:v>
                </c:pt>
                <c:pt idx="4">
                  <c:v>2787</c:v>
                </c:pt>
                <c:pt idx="5">
                  <c:v>2747</c:v>
                </c:pt>
                <c:pt idx="6">
                  <c:v>2824</c:v>
                </c:pt>
                <c:pt idx="7">
                  <c:v>2744</c:v>
                </c:pt>
                <c:pt idx="8">
                  <c:v>2706</c:v>
                </c:pt>
                <c:pt idx="9">
                  <c:v>2818</c:v>
                </c:pt>
                <c:pt idx="10">
                  <c:v>2720</c:v>
                </c:pt>
                <c:pt idx="11">
                  <c:v>2730</c:v>
                </c:pt>
                <c:pt idx="12">
                  <c:v>2709</c:v>
                </c:pt>
                <c:pt idx="13">
                  <c:v>2492</c:v>
                </c:pt>
                <c:pt idx="14">
                  <c:v>2808</c:v>
                </c:pt>
                <c:pt idx="15">
                  <c:v>2666</c:v>
                </c:pt>
                <c:pt idx="16">
                  <c:v>2682</c:v>
                </c:pt>
                <c:pt idx="17">
                  <c:v>2742</c:v>
                </c:pt>
                <c:pt idx="18">
                  <c:v>2734</c:v>
                </c:pt>
                <c:pt idx="19">
                  <c:v>2854</c:v>
                </c:pt>
                <c:pt idx="20">
                  <c:v>2730</c:v>
                </c:pt>
                <c:pt idx="21">
                  <c:v>2874</c:v>
                </c:pt>
                <c:pt idx="22">
                  <c:v>2688</c:v>
                </c:pt>
                <c:pt idx="23">
                  <c:v>2775</c:v>
                </c:pt>
              </c:numCache>
            </c:numRef>
          </c:val>
          <c:smooth val="0"/>
          <c:extLst>
            <c:ext xmlns:c16="http://schemas.microsoft.com/office/drawing/2014/chart" uri="{C3380CC4-5D6E-409C-BE32-E72D297353CC}">
              <c16:uniqueId val="{00000000-2938-5A44-AEED-5F2D170EE1D6}"/>
            </c:ext>
          </c:extLst>
        </c:ser>
        <c:ser>
          <c:idx val="1"/>
          <c:order val="1"/>
          <c:tx>
            <c:strRef>
              <c:f>Sheet1!$C$1</c:f>
              <c:strCache>
                <c:ptCount val="1"/>
                <c:pt idx="0">
                  <c:v>Approved Applications</c:v>
                </c:pt>
              </c:strCache>
            </c:strRef>
          </c:tx>
          <c:spPr>
            <a:ln w="28575" cap="rnd">
              <a:solidFill>
                <a:schemeClr val="accent1"/>
              </a:solidFill>
              <a:round/>
            </a:ln>
            <a:effectLst/>
          </c:spPr>
          <c:marker>
            <c:symbol val="none"/>
          </c:marker>
          <c:cat>
            <c:strRef>
              <c:f>Sheet1!$A$2:$A$25</c:f>
              <c:strCache>
                <c:ptCount val="24"/>
                <c:pt idx="0">
                  <c:v>2022-01</c:v>
                </c:pt>
                <c:pt idx="1">
                  <c:v>2022-02</c:v>
                </c:pt>
                <c:pt idx="2">
                  <c:v>2022-03</c:v>
                </c:pt>
                <c:pt idx="3">
                  <c:v>2022-04</c:v>
                </c:pt>
                <c:pt idx="4">
                  <c:v>2022-05</c:v>
                </c:pt>
                <c:pt idx="5">
                  <c:v>2022-06</c:v>
                </c:pt>
                <c:pt idx="6">
                  <c:v>2022-07</c:v>
                </c:pt>
                <c:pt idx="7">
                  <c:v>2022-08</c:v>
                </c:pt>
                <c:pt idx="8">
                  <c:v>2022-09</c:v>
                </c:pt>
                <c:pt idx="9">
                  <c:v>2022-10</c:v>
                </c:pt>
                <c:pt idx="10">
                  <c:v>2022-11</c:v>
                </c:pt>
                <c:pt idx="11">
                  <c:v>2022-12</c:v>
                </c:pt>
                <c:pt idx="12">
                  <c:v>2023-01</c:v>
                </c:pt>
                <c:pt idx="13">
                  <c:v>2023-02</c:v>
                </c:pt>
                <c:pt idx="14">
                  <c:v>2023-03</c:v>
                </c:pt>
                <c:pt idx="15">
                  <c:v>2023-04</c:v>
                </c:pt>
                <c:pt idx="16">
                  <c:v>2023-05</c:v>
                </c:pt>
                <c:pt idx="17">
                  <c:v>2023-06</c:v>
                </c:pt>
                <c:pt idx="18">
                  <c:v>2023-07</c:v>
                </c:pt>
                <c:pt idx="19">
                  <c:v>2023-08</c:v>
                </c:pt>
                <c:pt idx="20">
                  <c:v>2023-09</c:v>
                </c:pt>
                <c:pt idx="21">
                  <c:v>2023-10</c:v>
                </c:pt>
                <c:pt idx="22">
                  <c:v>2023-11</c:v>
                </c:pt>
                <c:pt idx="23">
                  <c:v>2023-12</c:v>
                </c:pt>
              </c:strCache>
            </c:strRef>
          </c:cat>
          <c:val>
            <c:numRef>
              <c:f>Sheet1!$C$2:$C$25</c:f>
              <c:numCache>
                <c:formatCode>General</c:formatCode>
                <c:ptCount val="24"/>
                <c:pt idx="0">
                  <c:v>1383</c:v>
                </c:pt>
                <c:pt idx="1">
                  <c:v>1282</c:v>
                </c:pt>
                <c:pt idx="2">
                  <c:v>1352</c:v>
                </c:pt>
                <c:pt idx="3">
                  <c:v>1284</c:v>
                </c:pt>
                <c:pt idx="4">
                  <c:v>1346</c:v>
                </c:pt>
                <c:pt idx="5">
                  <c:v>1391</c:v>
                </c:pt>
                <c:pt idx="6">
                  <c:v>1376</c:v>
                </c:pt>
                <c:pt idx="7">
                  <c:v>1379</c:v>
                </c:pt>
                <c:pt idx="8">
                  <c:v>1350</c:v>
                </c:pt>
                <c:pt idx="9">
                  <c:v>1422</c:v>
                </c:pt>
                <c:pt idx="10">
                  <c:v>1391</c:v>
                </c:pt>
                <c:pt idx="11">
                  <c:v>1359</c:v>
                </c:pt>
                <c:pt idx="12">
                  <c:v>1389</c:v>
                </c:pt>
                <c:pt idx="13">
                  <c:v>1284</c:v>
                </c:pt>
                <c:pt idx="14">
                  <c:v>1355</c:v>
                </c:pt>
                <c:pt idx="15">
                  <c:v>1351</c:v>
                </c:pt>
                <c:pt idx="16">
                  <c:v>1353</c:v>
                </c:pt>
                <c:pt idx="17">
                  <c:v>1363</c:v>
                </c:pt>
                <c:pt idx="18">
                  <c:v>1348</c:v>
                </c:pt>
                <c:pt idx="19">
                  <c:v>1436</c:v>
                </c:pt>
                <c:pt idx="20">
                  <c:v>1374</c:v>
                </c:pt>
                <c:pt idx="21">
                  <c:v>1466</c:v>
                </c:pt>
                <c:pt idx="22">
                  <c:v>1323</c:v>
                </c:pt>
                <c:pt idx="23">
                  <c:v>1399</c:v>
                </c:pt>
              </c:numCache>
            </c:numRef>
          </c:val>
          <c:smooth val="0"/>
          <c:extLst>
            <c:ext xmlns:c16="http://schemas.microsoft.com/office/drawing/2014/chart" uri="{C3380CC4-5D6E-409C-BE32-E72D297353CC}">
              <c16:uniqueId val="{00000001-2938-5A44-AEED-5F2D170EE1D6}"/>
            </c:ext>
          </c:extLst>
        </c:ser>
        <c:ser>
          <c:idx val="2"/>
          <c:order val="2"/>
          <c:tx>
            <c:strRef>
              <c:f>Sheet1!$D$1</c:f>
              <c:strCache>
                <c:ptCount val="1"/>
                <c:pt idx="0">
                  <c:v>Used Applications</c:v>
                </c:pt>
              </c:strCache>
            </c:strRef>
          </c:tx>
          <c:spPr>
            <a:ln w="28575" cap="rnd">
              <a:solidFill>
                <a:schemeClr val="accent2"/>
              </a:solidFill>
              <a:round/>
            </a:ln>
            <a:effectLst/>
          </c:spPr>
          <c:marker>
            <c:symbol val="none"/>
          </c:marker>
          <c:cat>
            <c:strRef>
              <c:f>Sheet1!$A$2:$A$25</c:f>
              <c:strCache>
                <c:ptCount val="24"/>
                <c:pt idx="0">
                  <c:v>2022-01</c:v>
                </c:pt>
                <c:pt idx="1">
                  <c:v>2022-02</c:v>
                </c:pt>
                <c:pt idx="2">
                  <c:v>2022-03</c:v>
                </c:pt>
                <c:pt idx="3">
                  <c:v>2022-04</c:v>
                </c:pt>
                <c:pt idx="4">
                  <c:v>2022-05</c:v>
                </c:pt>
                <c:pt idx="5">
                  <c:v>2022-06</c:v>
                </c:pt>
                <c:pt idx="6">
                  <c:v>2022-07</c:v>
                </c:pt>
                <c:pt idx="7">
                  <c:v>2022-08</c:v>
                </c:pt>
                <c:pt idx="8">
                  <c:v>2022-09</c:v>
                </c:pt>
                <c:pt idx="9">
                  <c:v>2022-10</c:v>
                </c:pt>
                <c:pt idx="10">
                  <c:v>2022-11</c:v>
                </c:pt>
                <c:pt idx="11">
                  <c:v>2022-12</c:v>
                </c:pt>
                <c:pt idx="12">
                  <c:v>2023-01</c:v>
                </c:pt>
                <c:pt idx="13">
                  <c:v>2023-02</c:v>
                </c:pt>
                <c:pt idx="14">
                  <c:v>2023-03</c:v>
                </c:pt>
                <c:pt idx="15">
                  <c:v>2023-04</c:v>
                </c:pt>
                <c:pt idx="16">
                  <c:v>2023-05</c:v>
                </c:pt>
                <c:pt idx="17">
                  <c:v>2023-06</c:v>
                </c:pt>
                <c:pt idx="18">
                  <c:v>2023-07</c:v>
                </c:pt>
                <c:pt idx="19">
                  <c:v>2023-08</c:v>
                </c:pt>
                <c:pt idx="20">
                  <c:v>2023-09</c:v>
                </c:pt>
                <c:pt idx="21">
                  <c:v>2023-10</c:v>
                </c:pt>
                <c:pt idx="22">
                  <c:v>2023-11</c:v>
                </c:pt>
                <c:pt idx="23">
                  <c:v>2023-12</c:v>
                </c:pt>
              </c:strCache>
            </c:strRef>
          </c:cat>
          <c:val>
            <c:numRef>
              <c:f>Sheet1!$D$2:$D$25</c:f>
              <c:numCache>
                <c:formatCode>General</c:formatCode>
                <c:ptCount val="24"/>
                <c:pt idx="0">
                  <c:v>660</c:v>
                </c:pt>
                <c:pt idx="1">
                  <c:v>628</c:v>
                </c:pt>
                <c:pt idx="2">
                  <c:v>686</c:v>
                </c:pt>
                <c:pt idx="3">
                  <c:v>649</c:v>
                </c:pt>
                <c:pt idx="4">
                  <c:v>672</c:v>
                </c:pt>
                <c:pt idx="5">
                  <c:v>712</c:v>
                </c:pt>
                <c:pt idx="6">
                  <c:v>678</c:v>
                </c:pt>
                <c:pt idx="7">
                  <c:v>683</c:v>
                </c:pt>
                <c:pt idx="8">
                  <c:v>664</c:v>
                </c:pt>
                <c:pt idx="9">
                  <c:v>694</c:v>
                </c:pt>
                <c:pt idx="10">
                  <c:v>698</c:v>
                </c:pt>
                <c:pt idx="11">
                  <c:v>654</c:v>
                </c:pt>
                <c:pt idx="12">
                  <c:v>681</c:v>
                </c:pt>
                <c:pt idx="13">
                  <c:v>647</c:v>
                </c:pt>
                <c:pt idx="14">
                  <c:v>662</c:v>
                </c:pt>
                <c:pt idx="15">
                  <c:v>659</c:v>
                </c:pt>
                <c:pt idx="16">
                  <c:v>706</c:v>
                </c:pt>
                <c:pt idx="17">
                  <c:v>703</c:v>
                </c:pt>
                <c:pt idx="18">
                  <c:v>647</c:v>
                </c:pt>
                <c:pt idx="19">
                  <c:v>728</c:v>
                </c:pt>
                <c:pt idx="20">
                  <c:v>672</c:v>
                </c:pt>
                <c:pt idx="21">
                  <c:v>738</c:v>
                </c:pt>
                <c:pt idx="22">
                  <c:v>670</c:v>
                </c:pt>
                <c:pt idx="23">
                  <c:v>683</c:v>
                </c:pt>
              </c:numCache>
            </c:numRef>
          </c:val>
          <c:smooth val="0"/>
          <c:extLst>
            <c:ext xmlns:c16="http://schemas.microsoft.com/office/drawing/2014/chart" uri="{C3380CC4-5D6E-409C-BE32-E72D297353CC}">
              <c16:uniqueId val="{00000002-2938-5A44-AEED-5F2D170EE1D6}"/>
            </c:ext>
          </c:extLst>
        </c:ser>
        <c:dLbls>
          <c:showLegendKey val="0"/>
          <c:showVal val="0"/>
          <c:showCatName val="0"/>
          <c:showSerName val="0"/>
          <c:showPercent val="0"/>
          <c:showBubbleSize val="0"/>
        </c:dLbls>
        <c:smooth val="0"/>
        <c:axId val="1382275648"/>
        <c:axId val="1385111968"/>
      </c:lineChart>
      <c:catAx>
        <c:axId val="138227564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385111968"/>
        <c:crosses val="autoZero"/>
        <c:auto val="1"/>
        <c:lblAlgn val="ctr"/>
        <c:lblOffset val="100"/>
        <c:noMultiLvlLbl val="0"/>
      </c:catAx>
      <c:valAx>
        <c:axId val="1385111968"/>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382275648"/>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Sheet1!$B$1</c:f>
              <c:strCache>
                <c:ptCount val="1"/>
                <c:pt idx="0">
                  <c:v>Average Approved</c:v>
                </c:pt>
              </c:strCache>
            </c:strRef>
          </c:tx>
          <c:spPr>
            <a:ln w="28575" cap="rnd">
              <a:solidFill>
                <a:schemeClr val="accent1"/>
              </a:solidFill>
              <a:round/>
            </a:ln>
            <a:effectLst/>
          </c:spPr>
          <c:marker>
            <c:symbol val="none"/>
          </c:marker>
          <c:cat>
            <c:strRef>
              <c:f>Sheet1!$A$2:$A$25</c:f>
              <c:strCache>
                <c:ptCount val="24"/>
                <c:pt idx="0">
                  <c:v>2022-01</c:v>
                </c:pt>
                <c:pt idx="1">
                  <c:v>2022-02</c:v>
                </c:pt>
                <c:pt idx="2">
                  <c:v>2022-03</c:v>
                </c:pt>
                <c:pt idx="3">
                  <c:v>2022-04</c:v>
                </c:pt>
                <c:pt idx="4">
                  <c:v>2022-05</c:v>
                </c:pt>
                <c:pt idx="5">
                  <c:v>2022-06</c:v>
                </c:pt>
                <c:pt idx="6">
                  <c:v>2022-07</c:v>
                </c:pt>
                <c:pt idx="7">
                  <c:v>2022-08</c:v>
                </c:pt>
                <c:pt idx="8">
                  <c:v>2022-09</c:v>
                </c:pt>
                <c:pt idx="9">
                  <c:v>2022-10</c:v>
                </c:pt>
                <c:pt idx="10">
                  <c:v>2022-11</c:v>
                </c:pt>
                <c:pt idx="11">
                  <c:v>2022-12</c:v>
                </c:pt>
                <c:pt idx="12">
                  <c:v>2023-01</c:v>
                </c:pt>
                <c:pt idx="13">
                  <c:v>2023-02</c:v>
                </c:pt>
                <c:pt idx="14">
                  <c:v>2023-03</c:v>
                </c:pt>
                <c:pt idx="15">
                  <c:v>2023-04</c:v>
                </c:pt>
                <c:pt idx="16">
                  <c:v>2023-05</c:v>
                </c:pt>
                <c:pt idx="17">
                  <c:v>2023-06</c:v>
                </c:pt>
                <c:pt idx="18">
                  <c:v>2023-07</c:v>
                </c:pt>
                <c:pt idx="19">
                  <c:v>2023-08</c:v>
                </c:pt>
                <c:pt idx="20">
                  <c:v>2023-09</c:v>
                </c:pt>
                <c:pt idx="21">
                  <c:v>2023-10</c:v>
                </c:pt>
                <c:pt idx="22">
                  <c:v>2023-11</c:v>
                </c:pt>
                <c:pt idx="23">
                  <c:v>2023-12</c:v>
                </c:pt>
              </c:strCache>
            </c:strRef>
          </c:cat>
          <c:val>
            <c:numRef>
              <c:f>Sheet1!$B$2:$B$25</c:f>
              <c:numCache>
                <c:formatCode>#,##0</c:formatCode>
                <c:ptCount val="24"/>
                <c:pt idx="0">
                  <c:v>3122.2472889999999</c:v>
                </c:pt>
                <c:pt idx="1">
                  <c:v>3155.0904839999998</c:v>
                </c:pt>
                <c:pt idx="2">
                  <c:v>3111.5554729999999</c:v>
                </c:pt>
                <c:pt idx="3">
                  <c:v>3098.9781929999999</c:v>
                </c:pt>
                <c:pt idx="4">
                  <c:v>3052.0928680000002</c:v>
                </c:pt>
                <c:pt idx="5">
                  <c:v>3125.3652050000001</c:v>
                </c:pt>
                <c:pt idx="6">
                  <c:v>3164.2325580000002</c:v>
                </c:pt>
                <c:pt idx="7">
                  <c:v>3128.9064539999999</c:v>
                </c:pt>
                <c:pt idx="8">
                  <c:v>3125.45037</c:v>
                </c:pt>
                <c:pt idx="9">
                  <c:v>3148.2292550000002</c:v>
                </c:pt>
                <c:pt idx="10">
                  <c:v>3071.7153130000002</c:v>
                </c:pt>
                <c:pt idx="11">
                  <c:v>3101.031641</c:v>
                </c:pt>
                <c:pt idx="12">
                  <c:v>3130.035277</c:v>
                </c:pt>
                <c:pt idx="13">
                  <c:v>3082.333333</c:v>
                </c:pt>
                <c:pt idx="14">
                  <c:v>3139.4339479999999</c:v>
                </c:pt>
                <c:pt idx="15">
                  <c:v>3159.1169500000001</c:v>
                </c:pt>
                <c:pt idx="16">
                  <c:v>3172.4131560000001</c:v>
                </c:pt>
                <c:pt idx="17">
                  <c:v>3117.8070429999998</c:v>
                </c:pt>
                <c:pt idx="18">
                  <c:v>3055.3227000000002</c:v>
                </c:pt>
                <c:pt idx="19">
                  <c:v>3112.7026460000002</c:v>
                </c:pt>
                <c:pt idx="20">
                  <c:v>3138.3238719999999</c:v>
                </c:pt>
                <c:pt idx="21">
                  <c:v>3112.264666</c:v>
                </c:pt>
                <c:pt idx="22">
                  <c:v>3146.4610729999999</c:v>
                </c:pt>
                <c:pt idx="23">
                  <c:v>3168.4446029999999</c:v>
                </c:pt>
              </c:numCache>
            </c:numRef>
          </c:val>
          <c:smooth val="0"/>
          <c:extLst>
            <c:ext xmlns:c16="http://schemas.microsoft.com/office/drawing/2014/chart" uri="{C3380CC4-5D6E-409C-BE32-E72D297353CC}">
              <c16:uniqueId val="{00000000-4A75-2541-BC9A-EB02F928BC45}"/>
            </c:ext>
          </c:extLst>
        </c:ser>
        <c:ser>
          <c:idx val="1"/>
          <c:order val="1"/>
          <c:tx>
            <c:strRef>
              <c:f>Sheet1!$C$1</c:f>
              <c:strCache>
                <c:ptCount val="1"/>
                <c:pt idx="0">
                  <c:v>Average Used</c:v>
                </c:pt>
              </c:strCache>
            </c:strRef>
          </c:tx>
          <c:spPr>
            <a:ln w="28575" cap="rnd">
              <a:solidFill>
                <a:schemeClr val="accent2"/>
              </a:solidFill>
              <a:round/>
            </a:ln>
            <a:effectLst/>
          </c:spPr>
          <c:marker>
            <c:symbol val="none"/>
          </c:marker>
          <c:cat>
            <c:strRef>
              <c:f>Sheet1!$A$2:$A$25</c:f>
              <c:strCache>
                <c:ptCount val="24"/>
                <c:pt idx="0">
                  <c:v>2022-01</c:v>
                </c:pt>
                <c:pt idx="1">
                  <c:v>2022-02</c:v>
                </c:pt>
                <c:pt idx="2">
                  <c:v>2022-03</c:v>
                </c:pt>
                <c:pt idx="3">
                  <c:v>2022-04</c:v>
                </c:pt>
                <c:pt idx="4">
                  <c:v>2022-05</c:v>
                </c:pt>
                <c:pt idx="5">
                  <c:v>2022-06</c:v>
                </c:pt>
                <c:pt idx="6">
                  <c:v>2022-07</c:v>
                </c:pt>
                <c:pt idx="7">
                  <c:v>2022-08</c:v>
                </c:pt>
                <c:pt idx="8">
                  <c:v>2022-09</c:v>
                </c:pt>
                <c:pt idx="9">
                  <c:v>2022-10</c:v>
                </c:pt>
                <c:pt idx="10">
                  <c:v>2022-11</c:v>
                </c:pt>
                <c:pt idx="11">
                  <c:v>2022-12</c:v>
                </c:pt>
                <c:pt idx="12">
                  <c:v>2023-01</c:v>
                </c:pt>
                <c:pt idx="13">
                  <c:v>2023-02</c:v>
                </c:pt>
                <c:pt idx="14">
                  <c:v>2023-03</c:v>
                </c:pt>
                <c:pt idx="15">
                  <c:v>2023-04</c:v>
                </c:pt>
                <c:pt idx="16">
                  <c:v>2023-05</c:v>
                </c:pt>
                <c:pt idx="17">
                  <c:v>2023-06</c:v>
                </c:pt>
                <c:pt idx="18">
                  <c:v>2023-07</c:v>
                </c:pt>
                <c:pt idx="19">
                  <c:v>2023-08</c:v>
                </c:pt>
                <c:pt idx="20">
                  <c:v>2023-09</c:v>
                </c:pt>
                <c:pt idx="21">
                  <c:v>2023-10</c:v>
                </c:pt>
                <c:pt idx="22">
                  <c:v>2023-11</c:v>
                </c:pt>
                <c:pt idx="23">
                  <c:v>2023-12</c:v>
                </c:pt>
              </c:strCache>
            </c:strRef>
          </c:cat>
          <c:val>
            <c:numRef>
              <c:f>Sheet1!$C$2:$C$25</c:f>
              <c:numCache>
                <c:formatCode>#,##0</c:formatCode>
                <c:ptCount val="24"/>
                <c:pt idx="0">
                  <c:v>1633.737879</c:v>
                </c:pt>
                <c:pt idx="1">
                  <c:v>1585.361465</c:v>
                </c:pt>
                <c:pt idx="2">
                  <c:v>1610.3381919999999</c:v>
                </c:pt>
                <c:pt idx="3">
                  <c:v>1610.9969180000001</c:v>
                </c:pt>
                <c:pt idx="4">
                  <c:v>1625.9285709999999</c:v>
                </c:pt>
                <c:pt idx="5">
                  <c:v>1597.436798</c:v>
                </c:pt>
                <c:pt idx="6">
                  <c:v>1632.600295</c:v>
                </c:pt>
                <c:pt idx="7">
                  <c:v>1581.15959</c:v>
                </c:pt>
                <c:pt idx="8">
                  <c:v>1650.415663</c:v>
                </c:pt>
                <c:pt idx="9">
                  <c:v>1631.0489909999999</c:v>
                </c:pt>
                <c:pt idx="10">
                  <c:v>1586.5802289999999</c:v>
                </c:pt>
                <c:pt idx="11">
                  <c:v>1623.287462</c:v>
                </c:pt>
                <c:pt idx="12">
                  <c:v>1605.6681349999999</c:v>
                </c:pt>
                <c:pt idx="13">
                  <c:v>1627.2550229999999</c:v>
                </c:pt>
                <c:pt idx="14">
                  <c:v>1634.2809669999999</c:v>
                </c:pt>
                <c:pt idx="15">
                  <c:v>1649.8361150000001</c:v>
                </c:pt>
                <c:pt idx="16">
                  <c:v>1645.024079</c:v>
                </c:pt>
                <c:pt idx="17">
                  <c:v>1615.2446660000001</c:v>
                </c:pt>
                <c:pt idx="18">
                  <c:v>1641.9134469999999</c:v>
                </c:pt>
                <c:pt idx="19">
                  <c:v>1575.769231</c:v>
                </c:pt>
                <c:pt idx="20">
                  <c:v>1660.333333</c:v>
                </c:pt>
                <c:pt idx="21">
                  <c:v>1596.0338750000001</c:v>
                </c:pt>
                <c:pt idx="22">
                  <c:v>1585.055224</c:v>
                </c:pt>
                <c:pt idx="23">
                  <c:v>1614.508053</c:v>
                </c:pt>
              </c:numCache>
            </c:numRef>
          </c:val>
          <c:smooth val="0"/>
          <c:extLst>
            <c:ext xmlns:c16="http://schemas.microsoft.com/office/drawing/2014/chart" uri="{C3380CC4-5D6E-409C-BE32-E72D297353CC}">
              <c16:uniqueId val="{00000001-4A75-2541-BC9A-EB02F928BC45}"/>
            </c:ext>
          </c:extLst>
        </c:ser>
        <c:dLbls>
          <c:showLegendKey val="0"/>
          <c:showVal val="0"/>
          <c:showCatName val="0"/>
          <c:showSerName val="0"/>
          <c:showPercent val="0"/>
          <c:showBubbleSize val="0"/>
        </c:dLbls>
        <c:smooth val="0"/>
        <c:axId val="1274693456"/>
        <c:axId val="1419442944"/>
      </c:lineChart>
      <c:catAx>
        <c:axId val="127469345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419442944"/>
        <c:crosses val="autoZero"/>
        <c:auto val="1"/>
        <c:lblAlgn val="ctr"/>
        <c:lblOffset val="100"/>
        <c:noMultiLvlLbl val="0"/>
      </c:catAx>
      <c:valAx>
        <c:axId val="1419442944"/>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274693456"/>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Marketing Spend</c:v>
                </c:pt>
              </c:strCache>
            </c:strRef>
          </c:tx>
          <c:spPr>
            <a:solidFill>
              <a:schemeClr val="accent1"/>
            </a:solidFill>
            <a:ln>
              <a:noFill/>
            </a:ln>
            <a:effectLst/>
          </c:spPr>
          <c:invertIfNegative val="0"/>
          <c:cat>
            <c:strRef>
              <c:f>Sheet1!$A$2:$A$15</c:f>
              <c:strCache>
                <c:ptCount val="14"/>
                <c:pt idx="0">
                  <c:v>Referral Marketing</c:v>
                </c:pt>
                <c:pt idx="1">
                  <c:v>Facebook Ads</c:v>
                </c:pt>
                <c:pt idx="2">
                  <c:v>Instagram Ads</c:v>
                </c:pt>
                <c:pt idx="3">
                  <c:v>LinkedIn Ads</c:v>
                </c:pt>
                <c:pt idx="4">
                  <c:v>Direct Mail</c:v>
                </c:pt>
                <c:pt idx="5">
                  <c:v>Email Marketing</c:v>
                </c:pt>
                <c:pt idx="6">
                  <c:v>TV Ads</c:v>
                </c:pt>
                <c:pt idx="7">
                  <c:v>SEO</c:v>
                </c:pt>
                <c:pt idx="8">
                  <c:v>Content Marketing</c:v>
                </c:pt>
                <c:pt idx="9">
                  <c:v>Trade Shows</c:v>
                </c:pt>
                <c:pt idx="10">
                  <c:v>Twitter Ads</c:v>
                </c:pt>
                <c:pt idx="11">
                  <c:v>Influencer Marketing</c:v>
                </c:pt>
                <c:pt idx="12">
                  <c:v>Affiliate Marketing</c:v>
                </c:pt>
                <c:pt idx="13">
                  <c:v>Google Ads</c:v>
                </c:pt>
              </c:strCache>
            </c:strRef>
          </c:cat>
          <c:val>
            <c:numRef>
              <c:f>Sheet1!$B$2:$B$15</c:f>
              <c:numCache>
                <c:formatCode>#,##0</c:formatCode>
                <c:ptCount val="14"/>
                <c:pt idx="0">
                  <c:v>394522</c:v>
                </c:pt>
                <c:pt idx="1">
                  <c:v>704391</c:v>
                </c:pt>
                <c:pt idx="2">
                  <c:v>1042189</c:v>
                </c:pt>
                <c:pt idx="3">
                  <c:v>1404633</c:v>
                </c:pt>
                <c:pt idx="4">
                  <c:v>1934130</c:v>
                </c:pt>
                <c:pt idx="5">
                  <c:v>1944841</c:v>
                </c:pt>
                <c:pt idx="6">
                  <c:v>2539860</c:v>
                </c:pt>
                <c:pt idx="7">
                  <c:v>2703354</c:v>
                </c:pt>
                <c:pt idx="8">
                  <c:v>2728930</c:v>
                </c:pt>
                <c:pt idx="9">
                  <c:v>3344380</c:v>
                </c:pt>
                <c:pt idx="10">
                  <c:v>3996752</c:v>
                </c:pt>
                <c:pt idx="11">
                  <c:v>4684571</c:v>
                </c:pt>
                <c:pt idx="12">
                  <c:v>4708501</c:v>
                </c:pt>
                <c:pt idx="13">
                  <c:v>4798711</c:v>
                </c:pt>
              </c:numCache>
            </c:numRef>
          </c:val>
          <c:extLst>
            <c:ext xmlns:c16="http://schemas.microsoft.com/office/drawing/2014/chart" uri="{C3380CC4-5D6E-409C-BE32-E72D297353CC}">
              <c16:uniqueId val="{00000000-BB2A-3F43-86E4-6C43A95D1DE3}"/>
            </c:ext>
          </c:extLst>
        </c:ser>
        <c:ser>
          <c:idx val="1"/>
          <c:order val="1"/>
          <c:tx>
            <c:strRef>
              <c:f>Sheet1!$C$1</c:f>
              <c:strCache>
                <c:ptCount val="1"/>
                <c:pt idx="0">
                  <c:v>Total Used Dollars</c:v>
                </c:pt>
              </c:strCache>
            </c:strRef>
          </c:tx>
          <c:spPr>
            <a:solidFill>
              <a:schemeClr val="accent2"/>
            </a:solidFill>
            <a:ln>
              <a:noFill/>
            </a:ln>
            <a:effectLst/>
          </c:spPr>
          <c:invertIfNegative val="0"/>
          <c:cat>
            <c:strRef>
              <c:f>Sheet1!$A$2:$A$15</c:f>
              <c:strCache>
                <c:ptCount val="14"/>
                <c:pt idx="0">
                  <c:v>Referral Marketing</c:v>
                </c:pt>
                <c:pt idx="1">
                  <c:v>Facebook Ads</c:v>
                </c:pt>
                <c:pt idx="2">
                  <c:v>Instagram Ads</c:v>
                </c:pt>
                <c:pt idx="3">
                  <c:v>LinkedIn Ads</c:v>
                </c:pt>
                <c:pt idx="4">
                  <c:v>Direct Mail</c:v>
                </c:pt>
                <c:pt idx="5">
                  <c:v>Email Marketing</c:v>
                </c:pt>
                <c:pt idx="6">
                  <c:v>TV Ads</c:v>
                </c:pt>
                <c:pt idx="7">
                  <c:v>SEO</c:v>
                </c:pt>
                <c:pt idx="8">
                  <c:v>Content Marketing</c:v>
                </c:pt>
                <c:pt idx="9">
                  <c:v>Trade Shows</c:v>
                </c:pt>
                <c:pt idx="10">
                  <c:v>Twitter Ads</c:v>
                </c:pt>
                <c:pt idx="11">
                  <c:v>Influencer Marketing</c:v>
                </c:pt>
                <c:pt idx="12">
                  <c:v>Affiliate Marketing</c:v>
                </c:pt>
                <c:pt idx="13">
                  <c:v>Google Ads</c:v>
                </c:pt>
              </c:strCache>
            </c:strRef>
          </c:cat>
          <c:val>
            <c:numRef>
              <c:f>Sheet1!$C$2:$C$15</c:f>
              <c:numCache>
                <c:formatCode>#,##0</c:formatCode>
                <c:ptCount val="14"/>
                <c:pt idx="0">
                  <c:v>1201689</c:v>
                </c:pt>
                <c:pt idx="1">
                  <c:v>1199160</c:v>
                </c:pt>
                <c:pt idx="2">
                  <c:v>1170408</c:v>
                </c:pt>
                <c:pt idx="3">
                  <c:v>1196927</c:v>
                </c:pt>
                <c:pt idx="4">
                  <c:v>1147728</c:v>
                </c:pt>
                <c:pt idx="5">
                  <c:v>1111969</c:v>
                </c:pt>
                <c:pt idx="6">
                  <c:v>1201906</c:v>
                </c:pt>
                <c:pt idx="7">
                  <c:v>1121866</c:v>
                </c:pt>
                <c:pt idx="8">
                  <c:v>1202427</c:v>
                </c:pt>
                <c:pt idx="9">
                  <c:v>1281597</c:v>
                </c:pt>
                <c:pt idx="10">
                  <c:v>1226074</c:v>
                </c:pt>
                <c:pt idx="11">
                  <c:v>1164491</c:v>
                </c:pt>
                <c:pt idx="12">
                  <c:v>1174320</c:v>
                </c:pt>
                <c:pt idx="13">
                  <c:v>1247539</c:v>
                </c:pt>
              </c:numCache>
            </c:numRef>
          </c:val>
          <c:extLst>
            <c:ext xmlns:c16="http://schemas.microsoft.com/office/drawing/2014/chart" uri="{C3380CC4-5D6E-409C-BE32-E72D297353CC}">
              <c16:uniqueId val="{00000001-BB2A-3F43-86E4-6C43A95D1DE3}"/>
            </c:ext>
          </c:extLst>
        </c:ser>
        <c:dLbls>
          <c:showLegendKey val="0"/>
          <c:showVal val="0"/>
          <c:showCatName val="0"/>
          <c:showSerName val="0"/>
          <c:showPercent val="0"/>
          <c:showBubbleSize val="0"/>
        </c:dLbls>
        <c:gapWidth val="150"/>
        <c:axId val="1399511936"/>
        <c:axId val="1437384672"/>
      </c:barChart>
      <c:catAx>
        <c:axId val="139951193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437384672"/>
        <c:crosses val="autoZero"/>
        <c:auto val="1"/>
        <c:lblAlgn val="ctr"/>
        <c:lblOffset val="100"/>
        <c:noMultiLvlLbl val="0"/>
      </c:catAx>
      <c:valAx>
        <c:axId val="1437384672"/>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399511936"/>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barChart>
        <c:barDir val="bar"/>
        <c:grouping val="clustered"/>
        <c:varyColors val="0"/>
        <c:ser>
          <c:idx val="0"/>
          <c:order val="0"/>
          <c:tx>
            <c:strRef>
              <c:f>Sheet1!$B$1</c:f>
              <c:strCache>
                <c:ptCount val="1"/>
                <c:pt idx="0">
                  <c:v>Approved</c:v>
                </c:pt>
              </c:strCache>
            </c:strRef>
          </c:tx>
          <c:spPr>
            <a:solidFill>
              <a:schemeClr val="accent1"/>
            </a:solidFill>
            <a:ln>
              <a:noFill/>
            </a:ln>
            <a:effectLst/>
          </c:spPr>
          <c:invertIfNegative val="0"/>
          <c:cat>
            <c:numRef>
              <c:f>Sheet1!$A$2:$A$11</c:f>
              <c:numCache>
                <c:formatCode>General</c:formatCode>
                <c:ptCount val="10"/>
                <c:pt idx="0">
                  <c:v>203</c:v>
                </c:pt>
                <c:pt idx="1">
                  <c:v>211</c:v>
                </c:pt>
                <c:pt idx="2">
                  <c:v>6</c:v>
                </c:pt>
                <c:pt idx="3">
                  <c:v>38</c:v>
                </c:pt>
                <c:pt idx="4">
                  <c:v>48</c:v>
                </c:pt>
                <c:pt idx="5">
                  <c:v>13</c:v>
                </c:pt>
                <c:pt idx="6">
                  <c:v>247</c:v>
                </c:pt>
                <c:pt idx="7">
                  <c:v>221</c:v>
                </c:pt>
                <c:pt idx="8">
                  <c:v>126</c:v>
                </c:pt>
                <c:pt idx="9">
                  <c:v>107</c:v>
                </c:pt>
              </c:numCache>
            </c:numRef>
          </c:cat>
          <c:val>
            <c:numRef>
              <c:f>Sheet1!$B$2:$B$11</c:f>
              <c:numCache>
                <c:formatCode>General</c:formatCode>
                <c:ptCount val="10"/>
                <c:pt idx="0">
                  <c:v>149</c:v>
                </c:pt>
                <c:pt idx="1">
                  <c:v>119</c:v>
                </c:pt>
                <c:pt idx="2">
                  <c:v>113</c:v>
                </c:pt>
                <c:pt idx="3">
                  <c:v>122</c:v>
                </c:pt>
                <c:pt idx="4">
                  <c:v>129</c:v>
                </c:pt>
                <c:pt idx="5">
                  <c:v>145</c:v>
                </c:pt>
                <c:pt idx="6">
                  <c:v>175</c:v>
                </c:pt>
                <c:pt idx="7">
                  <c:v>130</c:v>
                </c:pt>
                <c:pt idx="8">
                  <c:v>129</c:v>
                </c:pt>
                <c:pt idx="9">
                  <c:v>142</c:v>
                </c:pt>
              </c:numCache>
            </c:numRef>
          </c:val>
          <c:extLst>
            <c:ext xmlns:c16="http://schemas.microsoft.com/office/drawing/2014/chart" uri="{C3380CC4-5D6E-409C-BE32-E72D297353CC}">
              <c16:uniqueId val="{00000000-363D-A24C-8827-51DE9466DD3C}"/>
            </c:ext>
          </c:extLst>
        </c:ser>
        <c:ser>
          <c:idx val="1"/>
          <c:order val="1"/>
          <c:tx>
            <c:strRef>
              <c:f>Sheet1!$C$1</c:f>
              <c:strCache>
                <c:ptCount val="1"/>
                <c:pt idx="0">
                  <c:v>Used</c:v>
                </c:pt>
              </c:strCache>
            </c:strRef>
          </c:tx>
          <c:spPr>
            <a:solidFill>
              <a:schemeClr val="accent2"/>
            </a:solidFill>
            <a:ln>
              <a:noFill/>
            </a:ln>
            <a:effectLst/>
          </c:spPr>
          <c:invertIfNegative val="0"/>
          <c:dLbls>
            <c:dLbl>
              <c:idx val="0"/>
              <c:tx>
                <c:rich>
                  <a:bodyPr/>
                  <a:lstStyle/>
                  <a:p>
                    <a:fld id="{5F50D503-ACBA-484A-AC2C-56FBC5991579}" type="CELLRANGE">
                      <a:rPr lang="en-US"/>
                      <a:pPr/>
                      <a:t>[CELLRANGE]</a:t>
                    </a:fld>
                    <a:endParaRPr lang="en-US"/>
                  </a:p>
                </c:rich>
              </c:tx>
              <c:dLblPos val="outEnd"/>
              <c:showLegendKey val="0"/>
              <c:showVal val="0"/>
              <c:showCatName val="0"/>
              <c:showSerName val="0"/>
              <c:showPercent val="0"/>
              <c:showBubbleSize val="0"/>
              <c:separator>, </c:separator>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B-363D-A24C-8827-51DE9466DD3C}"/>
                </c:ext>
              </c:extLst>
            </c:dLbl>
            <c:dLbl>
              <c:idx val="1"/>
              <c:tx>
                <c:rich>
                  <a:bodyPr/>
                  <a:lstStyle/>
                  <a:p>
                    <a:fld id="{EB4C3763-E2C5-954F-860A-4F6CD581A62F}" type="CELLRANGE">
                      <a:rPr lang="en-US"/>
                      <a:pPr/>
                      <a:t>[CELLRANGE]</a:t>
                    </a:fld>
                    <a:endParaRPr lang="en-US"/>
                  </a:p>
                </c:rich>
              </c:tx>
              <c:dLblPos val="outEnd"/>
              <c:showLegendKey val="0"/>
              <c:showVal val="0"/>
              <c:showCatName val="0"/>
              <c:showSerName val="0"/>
              <c:showPercent val="0"/>
              <c:showBubbleSize val="0"/>
              <c:separator>, </c:separator>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C-363D-A24C-8827-51DE9466DD3C}"/>
                </c:ext>
              </c:extLst>
            </c:dLbl>
            <c:dLbl>
              <c:idx val="2"/>
              <c:tx>
                <c:rich>
                  <a:bodyPr/>
                  <a:lstStyle/>
                  <a:p>
                    <a:fld id="{A7D972F3-0CDA-0241-A4B2-C87F49B30665}" type="CELLRANGE">
                      <a:rPr lang="en-US"/>
                      <a:pPr/>
                      <a:t>[CELLRANGE]</a:t>
                    </a:fld>
                    <a:endParaRPr lang="en-US"/>
                  </a:p>
                </c:rich>
              </c:tx>
              <c:dLblPos val="outEnd"/>
              <c:showLegendKey val="0"/>
              <c:showVal val="0"/>
              <c:showCatName val="0"/>
              <c:showSerName val="0"/>
              <c:showPercent val="0"/>
              <c:showBubbleSize val="0"/>
              <c:separator>, </c:separator>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D-363D-A24C-8827-51DE9466DD3C}"/>
                </c:ext>
              </c:extLst>
            </c:dLbl>
            <c:dLbl>
              <c:idx val="3"/>
              <c:tx>
                <c:rich>
                  <a:bodyPr/>
                  <a:lstStyle/>
                  <a:p>
                    <a:fld id="{0D582DE3-057B-CD40-918A-7458BB9990FB}" type="CELLRANGE">
                      <a:rPr lang="en-US"/>
                      <a:pPr/>
                      <a:t>[CELLRANGE]</a:t>
                    </a:fld>
                    <a:endParaRPr lang="en-US"/>
                  </a:p>
                </c:rich>
              </c:tx>
              <c:dLblPos val="outEnd"/>
              <c:showLegendKey val="0"/>
              <c:showVal val="0"/>
              <c:showCatName val="0"/>
              <c:showSerName val="0"/>
              <c:showPercent val="0"/>
              <c:showBubbleSize val="0"/>
              <c:separator>, </c:separator>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E-363D-A24C-8827-51DE9466DD3C}"/>
                </c:ext>
              </c:extLst>
            </c:dLbl>
            <c:dLbl>
              <c:idx val="4"/>
              <c:tx>
                <c:rich>
                  <a:bodyPr/>
                  <a:lstStyle/>
                  <a:p>
                    <a:fld id="{8DDACA4F-1486-0741-AB27-88B426ECAACC}" type="CELLRANGE">
                      <a:rPr lang="en-US"/>
                      <a:pPr/>
                      <a:t>[CELLRANGE]</a:t>
                    </a:fld>
                    <a:endParaRPr lang="en-US"/>
                  </a:p>
                </c:rich>
              </c:tx>
              <c:dLblPos val="outEnd"/>
              <c:showLegendKey val="0"/>
              <c:showVal val="0"/>
              <c:showCatName val="0"/>
              <c:showSerName val="0"/>
              <c:showPercent val="0"/>
              <c:showBubbleSize val="0"/>
              <c:separator>, </c:separator>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F-363D-A24C-8827-51DE9466DD3C}"/>
                </c:ext>
              </c:extLst>
            </c:dLbl>
            <c:dLbl>
              <c:idx val="5"/>
              <c:tx>
                <c:rich>
                  <a:bodyPr/>
                  <a:lstStyle/>
                  <a:p>
                    <a:fld id="{6231DB2F-FC4A-2346-8CF0-673E3F3DE91A}" type="CELLRANGE">
                      <a:rPr lang="en-US"/>
                      <a:pPr/>
                      <a:t>[CELLRANGE]</a:t>
                    </a:fld>
                    <a:endParaRPr lang="en-US"/>
                  </a:p>
                </c:rich>
              </c:tx>
              <c:dLblPos val="outEnd"/>
              <c:showLegendKey val="0"/>
              <c:showVal val="0"/>
              <c:showCatName val="0"/>
              <c:showSerName val="0"/>
              <c:showPercent val="0"/>
              <c:showBubbleSize val="0"/>
              <c:separator>, </c:separator>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10-363D-A24C-8827-51DE9466DD3C}"/>
                </c:ext>
              </c:extLst>
            </c:dLbl>
            <c:dLbl>
              <c:idx val="6"/>
              <c:tx>
                <c:rich>
                  <a:bodyPr/>
                  <a:lstStyle/>
                  <a:p>
                    <a:fld id="{E29D5E09-6295-BA4C-B87E-3D56292CDDB2}" type="CELLRANGE">
                      <a:rPr lang="en-US"/>
                      <a:pPr/>
                      <a:t>[CELLRANGE]</a:t>
                    </a:fld>
                    <a:endParaRPr lang="en-US"/>
                  </a:p>
                </c:rich>
              </c:tx>
              <c:dLblPos val="outEnd"/>
              <c:showLegendKey val="0"/>
              <c:showVal val="0"/>
              <c:showCatName val="0"/>
              <c:showSerName val="0"/>
              <c:showPercent val="0"/>
              <c:showBubbleSize val="0"/>
              <c:separator>, </c:separator>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11-363D-A24C-8827-51DE9466DD3C}"/>
                </c:ext>
              </c:extLst>
            </c:dLbl>
            <c:dLbl>
              <c:idx val="7"/>
              <c:tx>
                <c:rich>
                  <a:bodyPr/>
                  <a:lstStyle/>
                  <a:p>
                    <a:fld id="{1A1B8D86-FA0F-7944-8BED-6C0CF693737D}" type="CELLRANGE">
                      <a:rPr lang="en-US"/>
                      <a:pPr/>
                      <a:t>[CELLRANGE]</a:t>
                    </a:fld>
                    <a:endParaRPr lang="en-US"/>
                  </a:p>
                </c:rich>
              </c:tx>
              <c:dLblPos val="outEnd"/>
              <c:showLegendKey val="0"/>
              <c:showVal val="0"/>
              <c:showCatName val="0"/>
              <c:showSerName val="0"/>
              <c:showPercent val="0"/>
              <c:showBubbleSize val="0"/>
              <c:separator>, </c:separator>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12-363D-A24C-8827-51DE9466DD3C}"/>
                </c:ext>
              </c:extLst>
            </c:dLbl>
            <c:dLbl>
              <c:idx val="8"/>
              <c:tx>
                <c:rich>
                  <a:bodyPr/>
                  <a:lstStyle/>
                  <a:p>
                    <a:fld id="{A9B9313B-9783-984C-90CB-7FCC12049AED}" type="CELLRANGE">
                      <a:rPr lang="en-US"/>
                      <a:pPr/>
                      <a:t>[CELLRANGE]</a:t>
                    </a:fld>
                    <a:endParaRPr lang="en-US"/>
                  </a:p>
                </c:rich>
              </c:tx>
              <c:dLblPos val="outEnd"/>
              <c:showLegendKey val="0"/>
              <c:showVal val="0"/>
              <c:showCatName val="0"/>
              <c:showSerName val="0"/>
              <c:showPercent val="0"/>
              <c:showBubbleSize val="0"/>
              <c:separator>, </c:separator>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13-363D-A24C-8827-51DE9466DD3C}"/>
                </c:ext>
              </c:extLst>
            </c:dLbl>
            <c:dLbl>
              <c:idx val="9"/>
              <c:tx>
                <c:rich>
                  <a:bodyPr/>
                  <a:lstStyle/>
                  <a:p>
                    <a:fld id="{CEAEC52A-7DED-194D-ABE8-D7B3FEC58D58}" type="CELLRANGE">
                      <a:rPr lang="en-US"/>
                      <a:pPr/>
                      <a:t>[CELLRANGE]</a:t>
                    </a:fld>
                    <a:endParaRPr lang="en-US"/>
                  </a:p>
                </c:rich>
              </c:tx>
              <c:dLblPos val="outEnd"/>
              <c:showLegendKey val="0"/>
              <c:showVal val="0"/>
              <c:showCatName val="0"/>
              <c:showSerName val="0"/>
              <c:showPercent val="0"/>
              <c:showBubbleSize val="0"/>
              <c:separator>, </c:separator>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14-363D-A24C-8827-51DE9466DD3C}"/>
                </c:ext>
              </c:extLst>
            </c:dLbl>
            <c:spPr>
              <a:noFill/>
              <a:ln>
                <a:noFill/>
              </a:ln>
              <a:effectLst/>
            </c:spPr>
            <c:txPr>
              <a:bodyPr rot="0" spcFirstLastPara="1" vertOverflow="ellipsis" vert="horz" wrap="square" lIns="38100" tIns="19050" rIns="38100" bIns="822960" anchor="t" anchorCtr="0">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0"/>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rect">
                    <a:avLst/>
                  </a:prstGeom>
                </c15:spPr>
                <c15:showDataLabelsRange val="1"/>
                <c15:showLeaderLines val="0"/>
              </c:ext>
            </c:extLst>
          </c:dLbls>
          <c:cat>
            <c:numRef>
              <c:f>Sheet1!$A$2:$A$11</c:f>
              <c:numCache>
                <c:formatCode>General</c:formatCode>
                <c:ptCount val="10"/>
                <c:pt idx="0">
                  <c:v>203</c:v>
                </c:pt>
                <c:pt idx="1">
                  <c:v>211</c:v>
                </c:pt>
                <c:pt idx="2">
                  <c:v>6</c:v>
                </c:pt>
                <c:pt idx="3">
                  <c:v>38</c:v>
                </c:pt>
                <c:pt idx="4">
                  <c:v>48</c:v>
                </c:pt>
                <c:pt idx="5">
                  <c:v>13</c:v>
                </c:pt>
                <c:pt idx="6">
                  <c:v>247</c:v>
                </c:pt>
                <c:pt idx="7">
                  <c:v>221</c:v>
                </c:pt>
                <c:pt idx="8">
                  <c:v>126</c:v>
                </c:pt>
                <c:pt idx="9">
                  <c:v>107</c:v>
                </c:pt>
              </c:numCache>
            </c:numRef>
          </c:cat>
          <c:val>
            <c:numRef>
              <c:f>Sheet1!$C$2:$C$11</c:f>
              <c:numCache>
                <c:formatCode>General</c:formatCode>
                <c:ptCount val="10"/>
                <c:pt idx="0">
                  <c:v>90</c:v>
                </c:pt>
                <c:pt idx="1">
                  <c:v>71</c:v>
                </c:pt>
                <c:pt idx="2">
                  <c:v>66</c:v>
                </c:pt>
                <c:pt idx="3">
                  <c:v>71</c:v>
                </c:pt>
                <c:pt idx="4">
                  <c:v>75</c:v>
                </c:pt>
                <c:pt idx="5">
                  <c:v>84</c:v>
                </c:pt>
                <c:pt idx="6">
                  <c:v>101</c:v>
                </c:pt>
                <c:pt idx="7">
                  <c:v>75</c:v>
                </c:pt>
                <c:pt idx="8">
                  <c:v>74</c:v>
                </c:pt>
                <c:pt idx="9">
                  <c:v>81</c:v>
                </c:pt>
              </c:numCache>
            </c:numRef>
          </c:val>
          <c:extLst>
            <c:ext xmlns:c15="http://schemas.microsoft.com/office/drawing/2012/chart" uri="{02D57815-91ED-43cb-92C2-25804820EDAC}">
              <c15:datalabelsRange>
                <c15:f>Sheet1!$D$2:$D$11</c15:f>
                <c15:dlblRangeCache>
                  <c:ptCount val="10"/>
                  <c:pt idx="0">
                    <c:v>60.4%</c:v>
                  </c:pt>
                  <c:pt idx="1">
                    <c:v>59.7%</c:v>
                  </c:pt>
                  <c:pt idx="2">
                    <c:v>58.4%</c:v>
                  </c:pt>
                  <c:pt idx="3">
                    <c:v>58.2%</c:v>
                  </c:pt>
                  <c:pt idx="4">
                    <c:v>58.1%</c:v>
                  </c:pt>
                  <c:pt idx="5">
                    <c:v>57.9%</c:v>
                  </c:pt>
                  <c:pt idx="6">
                    <c:v>57.7%</c:v>
                  </c:pt>
                  <c:pt idx="7">
                    <c:v>57.7%</c:v>
                  </c:pt>
                  <c:pt idx="8">
                    <c:v>57.4%</c:v>
                  </c:pt>
                  <c:pt idx="9">
                    <c:v>57.0%</c:v>
                  </c:pt>
                </c15:dlblRangeCache>
              </c15:datalabelsRange>
            </c:ext>
            <c:ext xmlns:c16="http://schemas.microsoft.com/office/drawing/2014/chart" uri="{C3380CC4-5D6E-409C-BE32-E72D297353CC}">
              <c16:uniqueId val="{00000009-363D-A24C-8827-51DE9466DD3C}"/>
            </c:ext>
          </c:extLst>
        </c:ser>
        <c:dLbls>
          <c:showLegendKey val="0"/>
          <c:showVal val="0"/>
          <c:showCatName val="0"/>
          <c:showSerName val="0"/>
          <c:showPercent val="0"/>
          <c:showBubbleSize val="0"/>
        </c:dLbls>
        <c:gapWidth val="219"/>
        <c:axId val="1510383040"/>
        <c:axId val="1484251440"/>
      </c:barChart>
      <c:catAx>
        <c:axId val="1510383040"/>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484251440"/>
        <c:crosses val="autoZero"/>
        <c:auto val="1"/>
        <c:lblAlgn val="ctr"/>
        <c:lblOffset val="100"/>
        <c:noMultiLvlLbl val="0"/>
      </c:catAx>
      <c:valAx>
        <c:axId val="1484251440"/>
        <c:scaling>
          <c:orientation val="minMax"/>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510383040"/>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1">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13B87D5-84C1-CD44-97A5-E676FF935A46}" type="datetimeFigureOut">
              <a:rPr lang="en-US" smtClean="0"/>
              <a:t>12/30/25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8F9AE81-6F82-DB46-922F-3FDE3A3678EC}" type="slidenum">
              <a:rPr lang="en-US" smtClean="0"/>
              <a:t>‹#›</a:t>
            </a:fld>
            <a:endParaRPr lang="en-US"/>
          </a:p>
        </p:txBody>
      </p:sp>
    </p:spTree>
    <p:extLst>
      <p:ext uri="{BB962C8B-B14F-4D97-AF65-F5344CB8AC3E}">
        <p14:creationId xmlns:p14="http://schemas.microsoft.com/office/powerpoint/2010/main" val="25787845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Task 1 - Calculate the number of applications, number of approved, and the number of used applications and visualize the trend over the submission date.</a:t>
            </a:r>
          </a:p>
          <a:p>
            <a:endParaRPr lang="en-US" dirty="0"/>
          </a:p>
        </p:txBody>
      </p:sp>
      <p:sp>
        <p:nvSpPr>
          <p:cNvPr id="4" name="Slide Number Placeholder 3"/>
          <p:cNvSpPr>
            <a:spLocks noGrp="1"/>
          </p:cNvSpPr>
          <p:nvPr>
            <p:ph type="sldNum" sz="quarter" idx="5"/>
          </p:nvPr>
        </p:nvSpPr>
        <p:spPr/>
        <p:txBody>
          <a:bodyPr/>
          <a:lstStyle/>
          <a:p>
            <a:fld id="{C8F9AE81-6F82-DB46-922F-3FDE3A3678EC}" type="slidenum">
              <a:rPr lang="en-US" smtClean="0"/>
              <a:t>3</a:t>
            </a:fld>
            <a:endParaRPr lang="en-US"/>
          </a:p>
        </p:txBody>
      </p:sp>
    </p:spTree>
    <p:extLst>
      <p:ext uri="{BB962C8B-B14F-4D97-AF65-F5344CB8AC3E}">
        <p14:creationId xmlns:p14="http://schemas.microsoft.com/office/powerpoint/2010/main" val="218898770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Task 2 - Calculate the average of the approved amount and the average of the amount used and visualize the trend over the submission date.</a:t>
            </a:r>
          </a:p>
          <a:p>
            <a:endParaRPr lang="en-US" dirty="0"/>
          </a:p>
        </p:txBody>
      </p:sp>
      <p:sp>
        <p:nvSpPr>
          <p:cNvPr id="4" name="Slide Number Placeholder 3"/>
          <p:cNvSpPr>
            <a:spLocks noGrp="1"/>
          </p:cNvSpPr>
          <p:nvPr>
            <p:ph type="sldNum" sz="quarter" idx="5"/>
          </p:nvPr>
        </p:nvSpPr>
        <p:spPr/>
        <p:txBody>
          <a:bodyPr/>
          <a:lstStyle/>
          <a:p>
            <a:fld id="{C8F9AE81-6F82-DB46-922F-3FDE3A3678EC}" type="slidenum">
              <a:rPr lang="en-US" smtClean="0"/>
              <a:t>4</a:t>
            </a:fld>
            <a:endParaRPr lang="en-US"/>
          </a:p>
        </p:txBody>
      </p:sp>
    </p:spTree>
    <p:extLst>
      <p:ext uri="{BB962C8B-B14F-4D97-AF65-F5344CB8AC3E}">
        <p14:creationId xmlns:p14="http://schemas.microsoft.com/office/powerpoint/2010/main" val="288853595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Task 3 - Create a table to show possible metrics (e.g. number of applications, number of approved, approved amount, number of used apps, used amount, percentages, </a:t>
            </a:r>
            <a:r>
              <a:rPr lang="en-US" sz="1200" kern="1200" dirty="0" err="1">
                <a:solidFill>
                  <a:schemeClr val="tx1"/>
                </a:solidFill>
                <a:effectLst/>
                <a:latin typeface="+mn-lt"/>
                <a:ea typeface="+mn-ea"/>
                <a:cs typeface="+mn-cs"/>
              </a:rPr>
              <a:t>etc</a:t>
            </a:r>
            <a:r>
              <a:rPr lang="en-US" sz="1200" kern="1200" dirty="0">
                <a:solidFill>
                  <a:schemeClr val="tx1"/>
                </a:solidFill>
                <a:effectLst/>
                <a:latin typeface="+mn-lt"/>
                <a:ea typeface="+mn-ea"/>
                <a:cs typeface="+mn-cs"/>
              </a:rPr>
              <a:t>) by store.</a:t>
            </a:r>
          </a:p>
          <a:p>
            <a:endParaRPr lang="en-US" dirty="0"/>
          </a:p>
        </p:txBody>
      </p:sp>
      <p:sp>
        <p:nvSpPr>
          <p:cNvPr id="4" name="Slide Number Placeholder 3"/>
          <p:cNvSpPr>
            <a:spLocks noGrp="1"/>
          </p:cNvSpPr>
          <p:nvPr>
            <p:ph type="sldNum" sz="quarter" idx="5"/>
          </p:nvPr>
        </p:nvSpPr>
        <p:spPr/>
        <p:txBody>
          <a:bodyPr/>
          <a:lstStyle/>
          <a:p>
            <a:fld id="{C8F9AE81-6F82-DB46-922F-3FDE3A3678EC}" type="slidenum">
              <a:rPr lang="en-US" smtClean="0"/>
              <a:t>5</a:t>
            </a:fld>
            <a:endParaRPr lang="en-US"/>
          </a:p>
        </p:txBody>
      </p:sp>
    </p:spTree>
    <p:extLst>
      <p:ext uri="{BB962C8B-B14F-4D97-AF65-F5344CB8AC3E}">
        <p14:creationId xmlns:p14="http://schemas.microsoft.com/office/powerpoint/2010/main" val="194167229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Task 4 - Create a view with a graph to compare the used dollars amount and spend amount by Marketing name.</a:t>
            </a:r>
          </a:p>
          <a:p>
            <a:endParaRPr lang="en-US" dirty="0"/>
          </a:p>
        </p:txBody>
      </p:sp>
      <p:sp>
        <p:nvSpPr>
          <p:cNvPr id="4" name="Slide Number Placeholder 3"/>
          <p:cNvSpPr>
            <a:spLocks noGrp="1"/>
          </p:cNvSpPr>
          <p:nvPr>
            <p:ph type="sldNum" sz="quarter" idx="5"/>
          </p:nvPr>
        </p:nvSpPr>
        <p:spPr/>
        <p:txBody>
          <a:bodyPr/>
          <a:lstStyle/>
          <a:p>
            <a:fld id="{C8F9AE81-6F82-DB46-922F-3FDE3A3678EC}" type="slidenum">
              <a:rPr lang="en-US" smtClean="0"/>
              <a:t>6</a:t>
            </a:fld>
            <a:endParaRPr lang="en-US"/>
          </a:p>
        </p:txBody>
      </p:sp>
    </p:spTree>
    <p:extLst>
      <p:ext uri="{BB962C8B-B14F-4D97-AF65-F5344CB8AC3E}">
        <p14:creationId xmlns:p14="http://schemas.microsoft.com/office/powerpoint/2010/main" val="39077436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Task 5 - Come up with something interesting with the data to share with us. Keep in mind this is randomly generated sample data so trends may or may not be present, but don’t let that hold you back.</a:t>
            </a:r>
          </a:p>
          <a:p>
            <a:endParaRPr lang="en-US" dirty="0"/>
          </a:p>
        </p:txBody>
      </p:sp>
      <p:sp>
        <p:nvSpPr>
          <p:cNvPr id="4" name="Slide Number Placeholder 3"/>
          <p:cNvSpPr>
            <a:spLocks noGrp="1"/>
          </p:cNvSpPr>
          <p:nvPr>
            <p:ph type="sldNum" sz="quarter" idx="5"/>
          </p:nvPr>
        </p:nvSpPr>
        <p:spPr/>
        <p:txBody>
          <a:bodyPr/>
          <a:lstStyle/>
          <a:p>
            <a:fld id="{C8F9AE81-6F82-DB46-922F-3FDE3A3678EC}" type="slidenum">
              <a:rPr lang="en-US" smtClean="0"/>
              <a:t>7</a:t>
            </a:fld>
            <a:endParaRPr lang="en-US"/>
          </a:p>
        </p:txBody>
      </p:sp>
    </p:spTree>
    <p:extLst>
      <p:ext uri="{BB962C8B-B14F-4D97-AF65-F5344CB8AC3E}">
        <p14:creationId xmlns:p14="http://schemas.microsoft.com/office/powerpoint/2010/main" val="326605568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AEC3EAF-974A-2043-82F0-50BEE941BB96}" type="datetimeFigureOut">
              <a:rPr lang="en-US" smtClean="0"/>
              <a:t>12/30/25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3D5F241-CB41-B34B-BFA9-7468396CC528}" type="slidenum">
              <a:rPr lang="en-US" smtClean="0"/>
              <a:t>‹#›</a:t>
            </a:fld>
            <a:endParaRPr lang="en-US"/>
          </a:p>
        </p:txBody>
      </p:sp>
    </p:spTree>
    <p:extLst>
      <p:ext uri="{BB962C8B-B14F-4D97-AF65-F5344CB8AC3E}">
        <p14:creationId xmlns:p14="http://schemas.microsoft.com/office/powerpoint/2010/main" val="25015541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AEC3EAF-974A-2043-82F0-50BEE941BB96}" type="datetimeFigureOut">
              <a:rPr lang="en-US" smtClean="0"/>
              <a:t>12/30/25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3D5F241-CB41-B34B-BFA9-7468396CC528}" type="slidenum">
              <a:rPr lang="en-US" smtClean="0"/>
              <a:t>‹#›</a:t>
            </a:fld>
            <a:endParaRPr lang="en-US"/>
          </a:p>
        </p:txBody>
      </p:sp>
    </p:spTree>
    <p:extLst>
      <p:ext uri="{BB962C8B-B14F-4D97-AF65-F5344CB8AC3E}">
        <p14:creationId xmlns:p14="http://schemas.microsoft.com/office/powerpoint/2010/main" val="11664726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AEC3EAF-974A-2043-82F0-50BEE941BB96}" type="datetimeFigureOut">
              <a:rPr lang="en-US" smtClean="0"/>
              <a:t>12/30/25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3D5F241-CB41-B34B-BFA9-7468396CC528}" type="slidenum">
              <a:rPr lang="en-US" smtClean="0"/>
              <a:t>‹#›</a:t>
            </a:fld>
            <a:endParaRPr lang="en-US"/>
          </a:p>
        </p:txBody>
      </p:sp>
    </p:spTree>
    <p:extLst>
      <p:ext uri="{BB962C8B-B14F-4D97-AF65-F5344CB8AC3E}">
        <p14:creationId xmlns:p14="http://schemas.microsoft.com/office/powerpoint/2010/main" val="32610840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AEC3EAF-974A-2043-82F0-50BEE941BB96}" type="datetimeFigureOut">
              <a:rPr lang="en-US" smtClean="0"/>
              <a:t>12/30/25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3D5F241-CB41-B34B-BFA9-7468396CC528}" type="slidenum">
              <a:rPr lang="en-US" smtClean="0"/>
              <a:t>‹#›</a:t>
            </a:fld>
            <a:endParaRPr lang="en-US"/>
          </a:p>
        </p:txBody>
      </p:sp>
    </p:spTree>
    <p:extLst>
      <p:ext uri="{BB962C8B-B14F-4D97-AF65-F5344CB8AC3E}">
        <p14:creationId xmlns:p14="http://schemas.microsoft.com/office/powerpoint/2010/main" val="26437760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AEC3EAF-974A-2043-82F0-50BEE941BB96}" type="datetimeFigureOut">
              <a:rPr lang="en-US" smtClean="0"/>
              <a:t>12/30/25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3D5F241-CB41-B34B-BFA9-7468396CC528}" type="slidenum">
              <a:rPr lang="en-US" smtClean="0"/>
              <a:t>‹#›</a:t>
            </a:fld>
            <a:endParaRPr lang="en-US"/>
          </a:p>
        </p:txBody>
      </p:sp>
    </p:spTree>
    <p:extLst>
      <p:ext uri="{BB962C8B-B14F-4D97-AF65-F5344CB8AC3E}">
        <p14:creationId xmlns:p14="http://schemas.microsoft.com/office/powerpoint/2010/main" val="7787060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AEC3EAF-974A-2043-82F0-50BEE941BB96}" type="datetimeFigureOut">
              <a:rPr lang="en-US" smtClean="0"/>
              <a:t>12/30/25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3D5F241-CB41-B34B-BFA9-7468396CC528}" type="slidenum">
              <a:rPr lang="en-US" smtClean="0"/>
              <a:t>‹#›</a:t>
            </a:fld>
            <a:endParaRPr lang="en-US"/>
          </a:p>
        </p:txBody>
      </p:sp>
    </p:spTree>
    <p:extLst>
      <p:ext uri="{BB962C8B-B14F-4D97-AF65-F5344CB8AC3E}">
        <p14:creationId xmlns:p14="http://schemas.microsoft.com/office/powerpoint/2010/main" val="13380538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AEC3EAF-974A-2043-82F0-50BEE941BB96}" type="datetimeFigureOut">
              <a:rPr lang="en-US" smtClean="0"/>
              <a:t>12/30/25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3D5F241-CB41-B34B-BFA9-7468396CC528}" type="slidenum">
              <a:rPr lang="en-US" smtClean="0"/>
              <a:t>‹#›</a:t>
            </a:fld>
            <a:endParaRPr lang="en-US"/>
          </a:p>
        </p:txBody>
      </p:sp>
    </p:spTree>
    <p:extLst>
      <p:ext uri="{BB962C8B-B14F-4D97-AF65-F5344CB8AC3E}">
        <p14:creationId xmlns:p14="http://schemas.microsoft.com/office/powerpoint/2010/main" val="5777882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AEC3EAF-974A-2043-82F0-50BEE941BB96}" type="datetimeFigureOut">
              <a:rPr lang="en-US" smtClean="0"/>
              <a:t>12/30/25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3D5F241-CB41-B34B-BFA9-7468396CC528}" type="slidenum">
              <a:rPr lang="en-US" smtClean="0"/>
              <a:t>‹#›</a:t>
            </a:fld>
            <a:endParaRPr lang="en-US"/>
          </a:p>
        </p:txBody>
      </p:sp>
    </p:spTree>
    <p:extLst>
      <p:ext uri="{BB962C8B-B14F-4D97-AF65-F5344CB8AC3E}">
        <p14:creationId xmlns:p14="http://schemas.microsoft.com/office/powerpoint/2010/main" val="26031753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AEC3EAF-974A-2043-82F0-50BEE941BB96}" type="datetimeFigureOut">
              <a:rPr lang="en-US" smtClean="0"/>
              <a:t>12/30/25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3D5F241-CB41-B34B-BFA9-7468396CC528}" type="slidenum">
              <a:rPr lang="en-US" smtClean="0"/>
              <a:t>‹#›</a:t>
            </a:fld>
            <a:endParaRPr lang="en-US"/>
          </a:p>
        </p:txBody>
      </p:sp>
    </p:spTree>
    <p:extLst>
      <p:ext uri="{BB962C8B-B14F-4D97-AF65-F5344CB8AC3E}">
        <p14:creationId xmlns:p14="http://schemas.microsoft.com/office/powerpoint/2010/main" val="57760215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AEC3EAF-974A-2043-82F0-50BEE941BB96}" type="datetimeFigureOut">
              <a:rPr lang="en-US" smtClean="0"/>
              <a:t>12/30/25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3D5F241-CB41-B34B-BFA9-7468396CC528}" type="slidenum">
              <a:rPr lang="en-US" smtClean="0"/>
              <a:t>‹#›</a:t>
            </a:fld>
            <a:endParaRPr lang="en-US"/>
          </a:p>
        </p:txBody>
      </p:sp>
    </p:spTree>
    <p:extLst>
      <p:ext uri="{BB962C8B-B14F-4D97-AF65-F5344CB8AC3E}">
        <p14:creationId xmlns:p14="http://schemas.microsoft.com/office/powerpoint/2010/main" val="38423880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AEC3EAF-974A-2043-82F0-50BEE941BB96}" type="datetimeFigureOut">
              <a:rPr lang="en-US" smtClean="0"/>
              <a:t>12/30/25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3D5F241-CB41-B34B-BFA9-7468396CC528}" type="slidenum">
              <a:rPr lang="en-US" smtClean="0"/>
              <a:t>‹#›</a:t>
            </a:fld>
            <a:endParaRPr lang="en-US"/>
          </a:p>
        </p:txBody>
      </p:sp>
    </p:spTree>
    <p:extLst>
      <p:ext uri="{BB962C8B-B14F-4D97-AF65-F5344CB8AC3E}">
        <p14:creationId xmlns:p14="http://schemas.microsoft.com/office/powerpoint/2010/main" val="8868084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AEC3EAF-974A-2043-82F0-50BEE941BB96}" type="datetimeFigureOut">
              <a:rPr lang="en-US" smtClean="0"/>
              <a:t>12/30/25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3D5F241-CB41-B34B-BFA9-7468396CC528}" type="slidenum">
              <a:rPr lang="en-US" smtClean="0"/>
              <a:t>‹#›</a:t>
            </a:fld>
            <a:endParaRPr lang="en-US"/>
          </a:p>
        </p:txBody>
      </p:sp>
    </p:spTree>
    <p:extLst>
      <p:ext uri="{BB962C8B-B14F-4D97-AF65-F5344CB8AC3E}">
        <p14:creationId xmlns:p14="http://schemas.microsoft.com/office/powerpoint/2010/main" val="221891314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34F1179-B481-4F9E-BCA3-AFB972070F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Triangle 9">
            <a:extLst>
              <a:ext uri="{FF2B5EF4-FFF2-40B4-BE49-F238E27FC236}">
                <a16:creationId xmlns:a16="http://schemas.microsoft.com/office/drawing/2014/main" id="{827DC2C4-B485-428A-BF4A-472D2967F4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EE04B5EB-F158-4507-90DD-BD23620C7C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DCB749C-99E9-72C7-3ED2-055091BDB671}"/>
              </a:ext>
            </a:extLst>
          </p:cNvPr>
          <p:cNvSpPr>
            <a:spLocks noGrp="1"/>
          </p:cNvSpPr>
          <p:nvPr>
            <p:ph type="ctrTitle"/>
          </p:nvPr>
        </p:nvSpPr>
        <p:spPr>
          <a:xfrm>
            <a:off x="1285241" y="1008993"/>
            <a:ext cx="9231410" cy="3542045"/>
          </a:xfrm>
        </p:spPr>
        <p:txBody>
          <a:bodyPr anchor="b">
            <a:normAutofit/>
          </a:bodyPr>
          <a:lstStyle/>
          <a:p>
            <a:pPr algn="l"/>
            <a:r>
              <a:rPr lang="en-US" sz="11500" dirty="0"/>
              <a:t>Snap Finance Take Home</a:t>
            </a:r>
          </a:p>
        </p:txBody>
      </p:sp>
      <p:sp>
        <p:nvSpPr>
          <p:cNvPr id="3" name="Subtitle 2">
            <a:extLst>
              <a:ext uri="{FF2B5EF4-FFF2-40B4-BE49-F238E27FC236}">
                <a16:creationId xmlns:a16="http://schemas.microsoft.com/office/drawing/2014/main" id="{2958CA18-A684-C281-603B-6AAF27C73E2B}"/>
              </a:ext>
            </a:extLst>
          </p:cNvPr>
          <p:cNvSpPr>
            <a:spLocks noGrp="1"/>
          </p:cNvSpPr>
          <p:nvPr>
            <p:ph type="subTitle" idx="1"/>
          </p:nvPr>
        </p:nvSpPr>
        <p:spPr>
          <a:xfrm>
            <a:off x="1285241" y="4582814"/>
            <a:ext cx="7132335" cy="1312657"/>
          </a:xfrm>
        </p:spPr>
        <p:txBody>
          <a:bodyPr anchor="t">
            <a:normAutofit/>
          </a:bodyPr>
          <a:lstStyle/>
          <a:p>
            <a:pPr algn="l"/>
            <a:r>
              <a:rPr lang="en-US" dirty="0"/>
              <a:t>Sam Henderson</a:t>
            </a:r>
          </a:p>
          <a:p>
            <a:pPr algn="l"/>
            <a:endParaRPr lang="en-US" dirty="0"/>
          </a:p>
        </p:txBody>
      </p:sp>
    </p:spTree>
    <p:extLst>
      <p:ext uri="{BB962C8B-B14F-4D97-AF65-F5344CB8AC3E}">
        <p14:creationId xmlns:p14="http://schemas.microsoft.com/office/powerpoint/2010/main" val="2836243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0F2377-CF6E-FEC9-994E-D6055AC54A02}"/>
              </a:ext>
            </a:extLst>
          </p:cNvPr>
          <p:cNvSpPr>
            <a:spLocks noGrp="1"/>
          </p:cNvSpPr>
          <p:nvPr>
            <p:ph type="title"/>
          </p:nvPr>
        </p:nvSpPr>
        <p:spPr/>
        <p:txBody>
          <a:bodyPr>
            <a:normAutofit/>
          </a:bodyPr>
          <a:lstStyle/>
          <a:p>
            <a:r>
              <a:rPr lang="en-US" sz="6000" dirty="0"/>
              <a:t>Introduction</a:t>
            </a:r>
          </a:p>
        </p:txBody>
      </p:sp>
      <p:sp>
        <p:nvSpPr>
          <p:cNvPr id="3" name="Content Placeholder 2">
            <a:extLst>
              <a:ext uri="{FF2B5EF4-FFF2-40B4-BE49-F238E27FC236}">
                <a16:creationId xmlns:a16="http://schemas.microsoft.com/office/drawing/2014/main" id="{3E227E79-A6BE-A2E7-1B70-29039105399D}"/>
              </a:ext>
            </a:extLst>
          </p:cNvPr>
          <p:cNvSpPr>
            <a:spLocks noGrp="1"/>
          </p:cNvSpPr>
          <p:nvPr>
            <p:ph idx="1"/>
          </p:nvPr>
        </p:nvSpPr>
        <p:spPr/>
        <p:txBody>
          <a:bodyPr/>
          <a:lstStyle/>
          <a:p>
            <a:r>
              <a:rPr lang="en-US" sz="3600" dirty="0"/>
              <a:t>This presentation will go through the 5 tasks listed in the Snap Finance Take Home Document.</a:t>
            </a:r>
          </a:p>
          <a:p>
            <a:endParaRPr lang="en-US" dirty="0"/>
          </a:p>
          <a:p>
            <a:endParaRPr lang="en-US" dirty="0"/>
          </a:p>
          <a:p>
            <a:r>
              <a:rPr lang="en-US" sz="3600" dirty="0"/>
              <a:t>Each slide will respond to a specific task and will include a chart and commentary relating to KPIs, Historical Trends, and other related data.</a:t>
            </a:r>
          </a:p>
        </p:txBody>
      </p:sp>
    </p:spTree>
    <p:extLst>
      <p:ext uri="{BB962C8B-B14F-4D97-AF65-F5344CB8AC3E}">
        <p14:creationId xmlns:p14="http://schemas.microsoft.com/office/powerpoint/2010/main" val="26583447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3426AF-9E1A-7F11-B092-E048C1E225A1}"/>
              </a:ext>
            </a:extLst>
          </p:cNvPr>
          <p:cNvSpPr>
            <a:spLocks noGrp="1"/>
          </p:cNvSpPr>
          <p:nvPr>
            <p:ph type="title"/>
          </p:nvPr>
        </p:nvSpPr>
        <p:spPr/>
        <p:txBody>
          <a:bodyPr>
            <a:normAutofit/>
          </a:bodyPr>
          <a:lstStyle/>
          <a:p>
            <a:r>
              <a:rPr lang="en-US" dirty="0"/>
              <a:t>Task 1: Calculate Application Trends</a:t>
            </a:r>
            <a:br>
              <a:rPr lang="en-US" dirty="0"/>
            </a:br>
            <a:r>
              <a:rPr lang="en-US" sz="2000" dirty="0"/>
              <a:t>Applications, Approved Applications, and Used Applications have remained stable from January 2022 through December 2023, which allows for confident planning and forecasting</a:t>
            </a:r>
          </a:p>
        </p:txBody>
      </p:sp>
      <p:graphicFrame>
        <p:nvGraphicFramePr>
          <p:cNvPr id="4" name="Content Placeholder 3">
            <a:extLst>
              <a:ext uri="{FF2B5EF4-FFF2-40B4-BE49-F238E27FC236}">
                <a16:creationId xmlns:a16="http://schemas.microsoft.com/office/drawing/2014/main" id="{FB754892-E876-7AB6-AB53-0156389489FD}"/>
              </a:ext>
            </a:extLst>
          </p:cNvPr>
          <p:cNvGraphicFramePr>
            <a:graphicFrameLocks noGrp="1"/>
          </p:cNvGraphicFramePr>
          <p:nvPr>
            <p:ph idx="1"/>
            <p:extLst>
              <p:ext uri="{D42A27DB-BD31-4B8C-83A1-F6EECF244321}">
                <p14:modId xmlns:p14="http://schemas.microsoft.com/office/powerpoint/2010/main" val="3850545275"/>
              </p:ext>
            </p:extLst>
          </p:nvPr>
        </p:nvGraphicFramePr>
        <p:xfrm>
          <a:off x="838200" y="1825625"/>
          <a:ext cx="10515600" cy="4351338"/>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38242078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D17B0-409F-2602-819D-B4AE5605461F}"/>
              </a:ext>
            </a:extLst>
          </p:cNvPr>
          <p:cNvSpPr>
            <a:spLocks noGrp="1"/>
          </p:cNvSpPr>
          <p:nvPr>
            <p:ph type="title"/>
          </p:nvPr>
        </p:nvSpPr>
        <p:spPr/>
        <p:txBody>
          <a:bodyPr>
            <a:normAutofit/>
          </a:bodyPr>
          <a:lstStyle/>
          <a:p>
            <a:r>
              <a:rPr lang="en-US" dirty="0"/>
              <a:t>Task 2: Average Approved vs Average Used</a:t>
            </a:r>
            <a:br>
              <a:rPr lang="en-US" dirty="0"/>
            </a:br>
            <a:r>
              <a:rPr lang="en-US" sz="2000" dirty="0"/>
              <a:t>For Approved Applications that Used Funds, average utilization ranged from 50.3% to 54.1% between January 2022 and December 2023.</a:t>
            </a:r>
            <a:endParaRPr lang="en-US" dirty="0"/>
          </a:p>
        </p:txBody>
      </p:sp>
      <p:graphicFrame>
        <p:nvGraphicFramePr>
          <p:cNvPr id="4" name="Content Placeholder 3">
            <a:extLst>
              <a:ext uri="{FF2B5EF4-FFF2-40B4-BE49-F238E27FC236}">
                <a16:creationId xmlns:a16="http://schemas.microsoft.com/office/drawing/2014/main" id="{1322BBAA-988A-06B8-E38E-24F5C5800329}"/>
              </a:ext>
            </a:extLst>
          </p:cNvPr>
          <p:cNvGraphicFramePr>
            <a:graphicFrameLocks noGrp="1"/>
          </p:cNvGraphicFramePr>
          <p:nvPr>
            <p:ph idx="1"/>
            <p:extLst>
              <p:ext uri="{D42A27DB-BD31-4B8C-83A1-F6EECF244321}">
                <p14:modId xmlns:p14="http://schemas.microsoft.com/office/powerpoint/2010/main" val="3657110403"/>
              </p:ext>
            </p:extLst>
          </p:nvPr>
        </p:nvGraphicFramePr>
        <p:xfrm>
          <a:off x="838200" y="1825625"/>
          <a:ext cx="10515600" cy="4351338"/>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31619400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6207C951-0E90-54BE-E17C-53646D39631D}"/>
              </a:ext>
            </a:extLst>
          </p:cNvPr>
          <p:cNvSpPr>
            <a:spLocks noGrp="1"/>
          </p:cNvSpPr>
          <p:nvPr>
            <p:ph type="title"/>
          </p:nvPr>
        </p:nvSpPr>
        <p:spPr/>
        <p:txBody>
          <a:bodyPr>
            <a:normAutofit/>
          </a:bodyPr>
          <a:lstStyle/>
          <a:p>
            <a:r>
              <a:rPr lang="en-US" dirty="0"/>
              <a:t>Task 3: Table with Store Level KPIs</a:t>
            </a:r>
            <a:br>
              <a:rPr lang="en-US" dirty="0"/>
            </a:br>
            <a:r>
              <a:rPr lang="en-US" sz="2200" dirty="0"/>
              <a:t>The table below shows the Top 10 stores based on Total Used Amount, along with 6 other Store Level KPIs. </a:t>
            </a:r>
            <a:endParaRPr lang="en-US" dirty="0"/>
          </a:p>
        </p:txBody>
      </p:sp>
      <p:graphicFrame>
        <p:nvGraphicFramePr>
          <p:cNvPr id="4" name="Content Placeholder 3">
            <a:extLst>
              <a:ext uri="{FF2B5EF4-FFF2-40B4-BE49-F238E27FC236}">
                <a16:creationId xmlns:a16="http://schemas.microsoft.com/office/drawing/2014/main" id="{9219AFDA-5BF2-5AB7-E2CB-4B7AB7DA4D10}"/>
              </a:ext>
            </a:extLst>
          </p:cNvPr>
          <p:cNvGraphicFramePr>
            <a:graphicFrameLocks noGrp="1"/>
          </p:cNvGraphicFramePr>
          <p:nvPr>
            <p:ph idx="1"/>
            <p:extLst>
              <p:ext uri="{D42A27DB-BD31-4B8C-83A1-F6EECF244321}">
                <p14:modId xmlns:p14="http://schemas.microsoft.com/office/powerpoint/2010/main" val="1745524185"/>
              </p:ext>
            </p:extLst>
          </p:nvPr>
        </p:nvGraphicFramePr>
        <p:xfrm>
          <a:off x="220536" y="1948688"/>
          <a:ext cx="11750928" cy="4095478"/>
        </p:xfrm>
        <a:graphic>
          <a:graphicData uri="http://schemas.openxmlformats.org/drawingml/2006/table">
            <a:tbl>
              <a:tblPr firstRow="1" bandRow="1">
                <a:tableStyleId>{5C22544A-7EE6-4342-B048-85BDC9FD1C3A}</a:tableStyleId>
              </a:tblPr>
              <a:tblGrid>
                <a:gridCol w="785622">
                  <a:extLst>
                    <a:ext uri="{9D8B030D-6E8A-4147-A177-3AD203B41FA5}">
                      <a16:colId xmlns:a16="http://schemas.microsoft.com/office/drawing/2014/main" val="1078285066"/>
                    </a:ext>
                  </a:extLst>
                </a:gridCol>
                <a:gridCol w="1555099">
                  <a:extLst>
                    <a:ext uri="{9D8B030D-6E8A-4147-A177-3AD203B41FA5}">
                      <a16:colId xmlns:a16="http://schemas.microsoft.com/office/drawing/2014/main" val="1263209237"/>
                    </a:ext>
                  </a:extLst>
                </a:gridCol>
                <a:gridCol w="1224677">
                  <a:extLst>
                    <a:ext uri="{9D8B030D-6E8A-4147-A177-3AD203B41FA5}">
                      <a16:colId xmlns:a16="http://schemas.microsoft.com/office/drawing/2014/main" val="1999423871"/>
                    </a:ext>
                  </a:extLst>
                </a:gridCol>
                <a:gridCol w="1416616">
                  <a:extLst>
                    <a:ext uri="{9D8B030D-6E8A-4147-A177-3AD203B41FA5}">
                      <a16:colId xmlns:a16="http://schemas.microsoft.com/office/drawing/2014/main" val="1714999502"/>
                    </a:ext>
                  </a:extLst>
                </a:gridCol>
                <a:gridCol w="737411">
                  <a:extLst>
                    <a:ext uri="{9D8B030D-6E8A-4147-A177-3AD203B41FA5}">
                      <a16:colId xmlns:a16="http://schemas.microsoft.com/office/drawing/2014/main" val="395630435"/>
                    </a:ext>
                  </a:extLst>
                </a:gridCol>
                <a:gridCol w="1002856">
                  <a:extLst>
                    <a:ext uri="{9D8B030D-6E8A-4147-A177-3AD203B41FA5}">
                      <a16:colId xmlns:a16="http://schemas.microsoft.com/office/drawing/2014/main" val="3095367409"/>
                    </a:ext>
                  </a:extLst>
                </a:gridCol>
                <a:gridCol w="2728359">
                  <a:extLst>
                    <a:ext uri="{9D8B030D-6E8A-4147-A177-3AD203B41FA5}">
                      <a16:colId xmlns:a16="http://schemas.microsoft.com/office/drawing/2014/main" val="545126730"/>
                    </a:ext>
                  </a:extLst>
                </a:gridCol>
                <a:gridCol w="2300288">
                  <a:extLst>
                    <a:ext uri="{9D8B030D-6E8A-4147-A177-3AD203B41FA5}">
                      <a16:colId xmlns:a16="http://schemas.microsoft.com/office/drawing/2014/main" val="471790584"/>
                    </a:ext>
                  </a:extLst>
                </a:gridCol>
              </a:tblGrid>
              <a:tr h="370840">
                <a:tc>
                  <a:txBody>
                    <a:bodyPr/>
                    <a:lstStyle/>
                    <a:p>
                      <a:pPr algn="r" fontAlgn="ctr">
                        <a:buNone/>
                      </a:pPr>
                      <a:r>
                        <a:rPr lang="en-US" b="1" dirty="0">
                          <a:effectLst/>
                          <a:latin typeface="+mj-lt"/>
                        </a:rPr>
                        <a:t>Store</a:t>
                      </a:r>
                    </a:p>
                  </a:txBody>
                  <a:tcPr anchor="ctr"/>
                </a:tc>
                <a:tc>
                  <a:txBody>
                    <a:bodyPr/>
                    <a:lstStyle/>
                    <a:p>
                      <a:pPr algn="r" fontAlgn="ctr">
                        <a:buNone/>
                      </a:pPr>
                      <a:r>
                        <a:rPr lang="en-US" b="1" dirty="0">
                          <a:effectLst/>
                          <a:latin typeface="+mj-lt"/>
                        </a:rPr>
                        <a:t>Applications</a:t>
                      </a:r>
                    </a:p>
                  </a:txBody>
                  <a:tcPr anchor="ctr"/>
                </a:tc>
                <a:tc>
                  <a:txBody>
                    <a:bodyPr/>
                    <a:lstStyle/>
                    <a:p>
                      <a:pPr algn="r" fontAlgn="ctr">
                        <a:buNone/>
                      </a:pPr>
                      <a:r>
                        <a:rPr lang="en-US" b="1">
                          <a:effectLst/>
                          <a:latin typeface="+mj-lt"/>
                        </a:rPr>
                        <a:t>Approved</a:t>
                      </a:r>
                    </a:p>
                  </a:txBody>
                  <a:tcPr anchor="ctr"/>
                </a:tc>
                <a:tc>
                  <a:txBody>
                    <a:bodyPr/>
                    <a:lstStyle/>
                    <a:p>
                      <a:pPr algn="r" fontAlgn="ctr">
                        <a:buNone/>
                      </a:pPr>
                      <a:r>
                        <a:rPr lang="en-US" b="1">
                          <a:effectLst/>
                          <a:latin typeface="+mj-lt"/>
                        </a:rPr>
                        <a:t>Approved %</a:t>
                      </a:r>
                    </a:p>
                  </a:txBody>
                  <a:tcPr anchor="ctr"/>
                </a:tc>
                <a:tc>
                  <a:txBody>
                    <a:bodyPr/>
                    <a:lstStyle/>
                    <a:p>
                      <a:pPr algn="r" fontAlgn="ctr">
                        <a:buNone/>
                      </a:pPr>
                      <a:r>
                        <a:rPr lang="en-US" b="1">
                          <a:effectLst/>
                          <a:latin typeface="+mj-lt"/>
                        </a:rPr>
                        <a:t>Used</a:t>
                      </a:r>
                    </a:p>
                  </a:txBody>
                  <a:tcPr anchor="ctr"/>
                </a:tc>
                <a:tc>
                  <a:txBody>
                    <a:bodyPr/>
                    <a:lstStyle/>
                    <a:p>
                      <a:pPr algn="r" fontAlgn="ctr">
                        <a:buNone/>
                      </a:pPr>
                      <a:r>
                        <a:rPr lang="en-US" b="1">
                          <a:effectLst/>
                          <a:latin typeface="+mj-lt"/>
                        </a:rPr>
                        <a:t>Used %</a:t>
                      </a:r>
                    </a:p>
                  </a:txBody>
                  <a:tcPr anchor="ctr"/>
                </a:tc>
                <a:tc>
                  <a:txBody>
                    <a:bodyPr/>
                    <a:lstStyle/>
                    <a:p>
                      <a:pPr algn="r" fontAlgn="ctr">
                        <a:buNone/>
                      </a:pPr>
                      <a:r>
                        <a:rPr lang="en-US" b="1">
                          <a:effectLst/>
                          <a:latin typeface="+mj-lt"/>
                        </a:rPr>
                        <a:t>Total_Approved_Amount</a:t>
                      </a:r>
                    </a:p>
                  </a:txBody>
                  <a:tcPr anchor="ctr"/>
                </a:tc>
                <a:tc>
                  <a:txBody>
                    <a:bodyPr/>
                    <a:lstStyle/>
                    <a:p>
                      <a:pPr algn="r" fontAlgn="ctr">
                        <a:buNone/>
                      </a:pPr>
                      <a:r>
                        <a:rPr lang="en-US" b="1">
                          <a:effectLst/>
                          <a:latin typeface="+mj-lt"/>
                        </a:rPr>
                        <a:t>Total_Used_Amount</a:t>
                      </a:r>
                    </a:p>
                  </a:txBody>
                  <a:tcPr anchor="ctr"/>
                </a:tc>
                <a:extLst>
                  <a:ext uri="{0D108BD9-81ED-4DB2-BD59-A6C34878D82A}">
                    <a16:rowId xmlns:a16="http://schemas.microsoft.com/office/drawing/2014/main" val="1004246714"/>
                  </a:ext>
                </a:extLst>
              </a:tr>
              <a:tr h="370840">
                <a:tc>
                  <a:txBody>
                    <a:bodyPr/>
                    <a:lstStyle/>
                    <a:p>
                      <a:pPr algn="r" fontAlgn="ctr">
                        <a:buNone/>
                      </a:pPr>
                      <a:r>
                        <a:rPr lang="en-US" dirty="0">
                          <a:effectLst/>
                          <a:latin typeface="+mj-lt"/>
                        </a:rPr>
                        <a:t>247</a:t>
                      </a:r>
                    </a:p>
                  </a:txBody>
                  <a:tcPr anchor="ctr"/>
                </a:tc>
                <a:tc>
                  <a:txBody>
                    <a:bodyPr/>
                    <a:lstStyle/>
                    <a:p>
                      <a:pPr algn="r" fontAlgn="ctr">
                        <a:buNone/>
                      </a:pPr>
                      <a:r>
                        <a:rPr lang="en-US" dirty="0">
                          <a:effectLst/>
                          <a:latin typeface="+mj-lt"/>
                        </a:rPr>
                        <a:t>327</a:t>
                      </a:r>
                    </a:p>
                  </a:txBody>
                  <a:tcPr anchor="ctr"/>
                </a:tc>
                <a:tc>
                  <a:txBody>
                    <a:bodyPr/>
                    <a:lstStyle/>
                    <a:p>
                      <a:pPr algn="r" fontAlgn="ctr">
                        <a:buNone/>
                      </a:pPr>
                      <a:r>
                        <a:rPr lang="en-US">
                          <a:effectLst/>
                          <a:latin typeface="+mj-lt"/>
                        </a:rPr>
                        <a:t>175</a:t>
                      </a:r>
                    </a:p>
                  </a:txBody>
                  <a:tcPr anchor="ctr"/>
                </a:tc>
                <a:tc>
                  <a:txBody>
                    <a:bodyPr/>
                    <a:lstStyle/>
                    <a:p>
                      <a:pPr algn="r" fontAlgn="ctr">
                        <a:buNone/>
                      </a:pPr>
                      <a:r>
                        <a:rPr lang="en-US">
                          <a:effectLst/>
                          <a:latin typeface="+mj-lt"/>
                        </a:rPr>
                        <a:t>53.5</a:t>
                      </a:r>
                    </a:p>
                  </a:txBody>
                  <a:tcPr anchor="ctr"/>
                </a:tc>
                <a:tc>
                  <a:txBody>
                    <a:bodyPr/>
                    <a:lstStyle/>
                    <a:p>
                      <a:pPr algn="r" fontAlgn="ctr">
                        <a:buNone/>
                      </a:pPr>
                      <a:r>
                        <a:rPr lang="en-US">
                          <a:effectLst/>
                          <a:latin typeface="+mj-lt"/>
                        </a:rPr>
                        <a:t>101</a:t>
                      </a:r>
                    </a:p>
                  </a:txBody>
                  <a:tcPr anchor="ctr"/>
                </a:tc>
                <a:tc>
                  <a:txBody>
                    <a:bodyPr/>
                    <a:lstStyle/>
                    <a:p>
                      <a:pPr algn="r" fontAlgn="ctr">
                        <a:buNone/>
                      </a:pPr>
                      <a:r>
                        <a:rPr lang="en-US">
                          <a:effectLst/>
                          <a:latin typeface="+mj-lt"/>
                        </a:rPr>
                        <a:t>57.7</a:t>
                      </a:r>
                    </a:p>
                  </a:txBody>
                  <a:tcPr anchor="ctr"/>
                </a:tc>
                <a:tc>
                  <a:txBody>
                    <a:bodyPr/>
                    <a:lstStyle/>
                    <a:p>
                      <a:pPr algn="r" fontAlgn="ctr">
                        <a:buNone/>
                      </a:pPr>
                      <a:r>
                        <a:rPr lang="en-US" dirty="0">
                          <a:effectLst/>
                          <a:latin typeface="+mj-lt"/>
                        </a:rPr>
                        <a:t>543,201.0</a:t>
                      </a:r>
                    </a:p>
                  </a:txBody>
                  <a:tcPr anchor="ctr"/>
                </a:tc>
                <a:tc>
                  <a:txBody>
                    <a:bodyPr/>
                    <a:lstStyle/>
                    <a:p>
                      <a:pPr algn="r" fontAlgn="ctr">
                        <a:buNone/>
                      </a:pPr>
                      <a:r>
                        <a:rPr lang="en-US" dirty="0">
                          <a:effectLst/>
                          <a:latin typeface="+mj-lt"/>
                        </a:rPr>
                        <a:t>157,407.0</a:t>
                      </a:r>
                    </a:p>
                  </a:txBody>
                  <a:tcPr anchor="ctr"/>
                </a:tc>
                <a:extLst>
                  <a:ext uri="{0D108BD9-81ED-4DB2-BD59-A6C34878D82A}">
                    <a16:rowId xmlns:a16="http://schemas.microsoft.com/office/drawing/2014/main" val="3241117103"/>
                  </a:ext>
                </a:extLst>
              </a:tr>
              <a:tr h="387078">
                <a:tc>
                  <a:txBody>
                    <a:bodyPr/>
                    <a:lstStyle/>
                    <a:p>
                      <a:pPr algn="r" fontAlgn="ctr">
                        <a:buNone/>
                      </a:pPr>
                      <a:r>
                        <a:rPr lang="en-US" dirty="0">
                          <a:effectLst/>
                          <a:latin typeface="+mj-lt"/>
                        </a:rPr>
                        <a:t>107</a:t>
                      </a:r>
                    </a:p>
                  </a:txBody>
                  <a:tcPr anchor="ctr"/>
                </a:tc>
                <a:tc>
                  <a:txBody>
                    <a:bodyPr/>
                    <a:lstStyle/>
                    <a:p>
                      <a:pPr algn="r" fontAlgn="ctr">
                        <a:buNone/>
                      </a:pPr>
                      <a:r>
                        <a:rPr lang="en-US" dirty="0">
                          <a:effectLst/>
                          <a:latin typeface="+mj-lt"/>
                        </a:rPr>
                        <a:t>265</a:t>
                      </a:r>
                    </a:p>
                  </a:txBody>
                  <a:tcPr anchor="ctr"/>
                </a:tc>
                <a:tc>
                  <a:txBody>
                    <a:bodyPr/>
                    <a:lstStyle/>
                    <a:p>
                      <a:pPr algn="r" fontAlgn="ctr">
                        <a:buNone/>
                      </a:pPr>
                      <a:r>
                        <a:rPr lang="en-US" dirty="0">
                          <a:effectLst/>
                          <a:latin typeface="+mj-lt"/>
                        </a:rPr>
                        <a:t>142</a:t>
                      </a:r>
                    </a:p>
                  </a:txBody>
                  <a:tcPr anchor="ctr"/>
                </a:tc>
                <a:tc>
                  <a:txBody>
                    <a:bodyPr/>
                    <a:lstStyle/>
                    <a:p>
                      <a:pPr algn="r" fontAlgn="ctr">
                        <a:buNone/>
                      </a:pPr>
                      <a:r>
                        <a:rPr lang="en-US">
                          <a:effectLst/>
                          <a:latin typeface="+mj-lt"/>
                        </a:rPr>
                        <a:t>53.6</a:t>
                      </a:r>
                    </a:p>
                  </a:txBody>
                  <a:tcPr anchor="ctr"/>
                </a:tc>
                <a:tc>
                  <a:txBody>
                    <a:bodyPr/>
                    <a:lstStyle/>
                    <a:p>
                      <a:pPr algn="r" fontAlgn="ctr">
                        <a:buNone/>
                      </a:pPr>
                      <a:r>
                        <a:rPr lang="en-US">
                          <a:effectLst/>
                          <a:latin typeface="+mj-lt"/>
                        </a:rPr>
                        <a:t>81</a:t>
                      </a:r>
                    </a:p>
                  </a:txBody>
                  <a:tcPr anchor="ctr"/>
                </a:tc>
                <a:tc>
                  <a:txBody>
                    <a:bodyPr/>
                    <a:lstStyle/>
                    <a:p>
                      <a:pPr algn="r" fontAlgn="ctr">
                        <a:buNone/>
                      </a:pPr>
                      <a:r>
                        <a:rPr lang="en-US">
                          <a:effectLst/>
                          <a:latin typeface="+mj-lt"/>
                        </a:rPr>
                        <a:t>57.0</a:t>
                      </a:r>
                    </a:p>
                  </a:txBody>
                  <a:tcPr anchor="ctr"/>
                </a:tc>
                <a:tc>
                  <a:txBody>
                    <a:bodyPr/>
                    <a:lstStyle/>
                    <a:p>
                      <a:pPr algn="r" fontAlgn="ctr">
                        <a:buNone/>
                      </a:pPr>
                      <a:r>
                        <a:rPr lang="en-US" dirty="0">
                          <a:effectLst/>
                          <a:latin typeface="+mj-lt"/>
                        </a:rPr>
                        <a:t>426,954.0</a:t>
                      </a:r>
                    </a:p>
                  </a:txBody>
                  <a:tcPr anchor="ctr"/>
                </a:tc>
                <a:tc>
                  <a:txBody>
                    <a:bodyPr/>
                    <a:lstStyle/>
                    <a:p>
                      <a:pPr algn="r" fontAlgn="ctr">
                        <a:buNone/>
                      </a:pPr>
                      <a:r>
                        <a:rPr lang="en-US" dirty="0">
                          <a:effectLst/>
                          <a:latin typeface="+mj-lt"/>
                        </a:rPr>
                        <a:t>148,079.0</a:t>
                      </a:r>
                    </a:p>
                  </a:txBody>
                  <a:tcPr anchor="ctr"/>
                </a:tc>
                <a:extLst>
                  <a:ext uri="{0D108BD9-81ED-4DB2-BD59-A6C34878D82A}">
                    <a16:rowId xmlns:a16="http://schemas.microsoft.com/office/drawing/2014/main" val="380001661"/>
                  </a:ext>
                </a:extLst>
              </a:tr>
              <a:tr h="370840">
                <a:tc>
                  <a:txBody>
                    <a:bodyPr/>
                    <a:lstStyle/>
                    <a:p>
                      <a:pPr algn="r" fontAlgn="ctr">
                        <a:buNone/>
                      </a:pPr>
                      <a:r>
                        <a:rPr lang="en-US" dirty="0">
                          <a:effectLst/>
                          <a:latin typeface="+mj-lt"/>
                        </a:rPr>
                        <a:t>135</a:t>
                      </a:r>
                    </a:p>
                  </a:txBody>
                  <a:tcPr anchor="ctr"/>
                </a:tc>
                <a:tc>
                  <a:txBody>
                    <a:bodyPr/>
                    <a:lstStyle/>
                    <a:p>
                      <a:pPr algn="r" fontAlgn="ctr">
                        <a:buNone/>
                      </a:pPr>
                      <a:r>
                        <a:rPr lang="en-US">
                          <a:effectLst/>
                          <a:latin typeface="+mj-lt"/>
                        </a:rPr>
                        <a:t>284</a:t>
                      </a:r>
                    </a:p>
                  </a:txBody>
                  <a:tcPr anchor="ctr"/>
                </a:tc>
                <a:tc>
                  <a:txBody>
                    <a:bodyPr/>
                    <a:lstStyle/>
                    <a:p>
                      <a:pPr algn="r" fontAlgn="ctr">
                        <a:buNone/>
                      </a:pPr>
                      <a:r>
                        <a:rPr lang="en-US" dirty="0">
                          <a:effectLst/>
                          <a:latin typeface="+mj-lt"/>
                        </a:rPr>
                        <a:t>142</a:t>
                      </a:r>
                    </a:p>
                  </a:txBody>
                  <a:tcPr anchor="ctr"/>
                </a:tc>
                <a:tc>
                  <a:txBody>
                    <a:bodyPr/>
                    <a:lstStyle/>
                    <a:p>
                      <a:pPr algn="r" fontAlgn="ctr">
                        <a:buNone/>
                      </a:pPr>
                      <a:r>
                        <a:rPr lang="en-US" dirty="0">
                          <a:effectLst/>
                          <a:latin typeface="+mj-lt"/>
                        </a:rPr>
                        <a:t>50.0</a:t>
                      </a:r>
                    </a:p>
                  </a:txBody>
                  <a:tcPr anchor="ctr"/>
                </a:tc>
                <a:tc>
                  <a:txBody>
                    <a:bodyPr/>
                    <a:lstStyle/>
                    <a:p>
                      <a:pPr algn="r" fontAlgn="ctr">
                        <a:buNone/>
                      </a:pPr>
                      <a:r>
                        <a:rPr lang="en-US" dirty="0">
                          <a:effectLst/>
                          <a:latin typeface="+mj-lt"/>
                        </a:rPr>
                        <a:t>77</a:t>
                      </a:r>
                    </a:p>
                  </a:txBody>
                  <a:tcPr anchor="ctr"/>
                </a:tc>
                <a:tc>
                  <a:txBody>
                    <a:bodyPr/>
                    <a:lstStyle/>
                    <a:p>
                      <a:pPr algn="r" fontAlgn="ctr">
                        <a:buNone/>
                      </a:pPr>
                      <a:r>
                        <a:rPr lang="en-US">
                          <a:effectLst/>
                          <a:latin typeface="+mj-lt"/>
                        </a:rPr>
                        <a:t>54.2</a:t>
                      </a:r>
                    </a:p>
                  </a:txBody>
                  <a:tcPr anchor="ctr"/>
                </a:tc>
                <a:tc>
                  <a:txBody>
                    <a:bodyPr/>
                    <a:lstStyle/>
                    <a:p>
                      <a:pPr algn="r" fontAlgn="ctr">
                        <a:buNone/>
                      </a:pPr>
                      <a:r>
                        <a:rPr lang="en-US" dirty="0">
                          <a:effectLst/>
                          <a:latin typeface="+mj-lt"/>
                        </a:rPr>
                        <a:t>437,801.0</a:t>
                      </a:r>
                    </a:p>
                  </a:txBody>
                  <a:tcPr anchor="ctr"/>
                </a:tc>
                <a:tc>
                  <a:txBody>
                    <a:bodyPr/>
                    <a:lstStyle/>
                    <a:p>
                      <a:pPr algn="r" fontAlgn="ctr">
                        <a:buNone/>
                      </a:pPr>
                      <a:r>
                        <a:rPr lang="en-US" dirty="0">
                          <a:effectLst/>
                          <a:latin typeface="+mj-lt"/>
                        </a:rPr>
                        <a:t>142,274.0</a:t>
                      </a:r>
                    </a:p>
                  </a:txBody>
                  <a:tcPr anchor="ctr"/>
                </a:tc>
                <a:extLst>
                  <a:ext uri="{0D108BD9-81ED-4DB2-BD59-A6C34878D82A}">
                    <a16:rowId xmlns:a16="http://schemas.microsoft.com/office/drawing/2014/main" val="4026252946"/>
                  </a:ext>
                </a:extLst>
              </a:tr>
              <a:tr h="370840">
                <a:tc>
                  <a:txBody>
                    <a:bodyPr/>
                    <a:lstStyle/>
                    <a:p>
                      <a:pPr algn="r" fontAlgn="ctr">
                        <a:buNone/>
                      </a:pPr>
                      <a:r>
                        <a:rPr lang="en-US" dirty="0">
                          <a:effectLst/>
                          <a:latin typeface="+mj-lt"/>
                        </a:rPr>
                        <a:t>51</a:t>
                      </a:r>
                    </a:p>
                  </a:txBody>
                  <a:tcPr anchor="ctr"/>
                </a:tc>
                <a:tc>
                  <a:txBody>
                    <a:bodyPr/>
                    <a:lstStyle/>
                    <a:p>
                      <a:pPr algn="r" fontAlgn="ctr">
                        <a:buNone/>
                      </a:pPr>
                      <a:r>
                        <a:rPr lang="en-US">
                          <a:effectLst/>
                          <a:latin typeface="+mj-lt"/>
                        </a:rPr>
                        <a:t>304</a:t>
                      </a:r>
                    </a:p>
                  </a:txBody>
                  <a:tcPr anchor="ctr"/>
                </a:tc>
                <a:tc>
                  <a:txBody>
                    <a:bodyPr/>
                    <a:lstStyle/>
                    <a:p>
                      <a:pPr algn="r" fontAlgn="ctr">
                        <a:buNone/>
                      </a:pPr>
                      <a:r>
                        <a:rPr lang="en-US">
                          <a:effectLst/>
                          <a:latin typeface="+mj-lt"/>
                        </a:rPr>
                        <a:t>160</a:t>
                      </a:r>
                    </a:p>
                  </a:txBody>
                  <a:tcPr anchor="ctr"/>
                </a:tc>
                <a:tc>
                  <a:txBody>
                    <a:bodyPr/>
                    <a:lstStyle/>
                    <a:p>
                      <a:pPr algn="r" fontAlgn="ctr">
                        <a:buNone/>
                      </a:pPr>
                      <a:r>
                        <a:rPr lang="en-US">
                          <a:effectLst/>
                          <a:latin typeface="+mj-lt"/>
                        </a:rPr>
                        <a:t>52.6</a:t>
                      </a:r>
                    </a:p>
                  </a:txBody>
                  <a:tcPr anchor="ctr"/>
                </a:tc>
                <a:tc>
                  <a:txBody>
                    <a:bodyPr/>
                    <a:lstStyle/>
                    <a:p>
                      <a:pPr algn="r" fontAlgn="ctr">
                        <a:buNone/>
                      </a:pPr>
                      <a:r>
                        <a:rPr lang="en-US">
                          <a:effectLst/>
                          <a:latin typeface="+mj-lt"/>
                        </a:rPr>
                        <a:t>89</a:t>
                      </a:r>
                    </a:p>
                  </a:txBody>
                  <a:tcPr anchor="ctr"/>
                </a:tc>
                <a:tc>
                  <a:txBody>
                    <a:bodyPr/>
                    <a:lstStyle/>
                    <a:p>
                      <a:pPr algn="r" fontAlgn="ctr">
                        <a:buNone/>
                      </a:pPr>
                      <a:r>
                        <a:rPr lang="en-US" dirty="0">
                          <a:effectLst/>
                          <a:latin typeface="+mj-lt"/>
                        </a:rPr>
                        <a:t>55.6</a:t>
                      </a:r>
                    </a:p>
                  </a:txBody>
                  <a:tcPr anchor="ctr"/>
                </a:tc>
                <a:tc>
                  <a:txBody>
                    <a:bodyPr/>
                    <a:lstStyle/>
                    <a:p>
                      <a:pPr algn="r" fontAlgn="ctr">
                        <a:buNone/>
                      </a:pPr>
                      <a:r>
                        <a:rPr lang="en-US" dirty="0">
                          <a:effectLst/>
                          <a:latin typeface="+mj-lt"/>
                        </a:rPr>
                        <a:t>487,542.0</a:t>
                      </a:r>
                    </a:p>
                  </a:txBody>
                  <a:tcPr anchor="ctr"/>
                </a:tc>
                <a:tc>
                  <a:txBody>
                    <a:bodyPr/>
                    <a:lstStyle/>
                    <a:p>
                      <a:pPr algn="r" fontAlgn="ctr">
                        <a:buNone/>
                      </a:pPr>
                      <a:r>
                        <a:rPr lang="en-US" dirty="0">
                          <a:effectLst/>
                          <a:latin typeface="+mj-lt"/>
                        </a:rPr>
                        <a:t>142,057.0</a:t>
                      </a:r>
                    </a:p>
                  </a:txBody>
                  <a:tcPr anchor="ctr"/>
                </a:tc>
                <a:extLst>
                  <a:ext uri="{0D108BD9-81ED-4DB2-BD59-A6C34878D82A}">
                    <a16:rowId xmlns:a16="http://schemas.microsoft.com/office/drawing/2014/main" val="2356843502"/>
                  </a:ext>
                </a:extLst>
              </a:tr>
              <a:tr h="370840">
                <a:tc>
                  <a:txBody>
                    <a:bodyPr/>
                    <a:lstStyle/>
                    <a:p>
                      <a:pPr algn="r" fontAlgn="ctr">
                        <a:buNone/>
                      </a:pPr>
                      <a:r>
                        <a:rPr lang="en-US" dirty="0">
                          <a:effectLst/>
                          <a:latin typeface="+mj-lt"/>
                        </a:rPr>
                        <a:t>221</a:t>
                      </a:r>
                    </a:p>
                  </a:txBody>
                  <a:tcPr anchor="ctr"/>
                </a:tc>
                <a:tc>
                  <a:txBody>
                    <a:bodyPr/>
                    <a:lstStyle/>
                    <a:p>
                      <a:pPr algn="r" fontAlgn="ctr">
                        <a:buNone/>
                      </a:pPr>
                      <a:r>
                        <a:rPr lang="en-US">
                          <a:effectLst/>
                          <a:latin typeface="+mj-lt"/>
                        </a:rPr>
                        <a:t>260</a:t>
                      </a:r>
                    </a:p>
                  </a:txBody>
                  <a:tcPr anchor="ctr"/>
                </a:tc>
                <a:tc>
                  <a:txBody>
                    <a:bodyPr/>
                    <a:lstStyle/>
                    <a:p>
                      <a:pPr algn="r" fontAlgn="ctr">
                        <a:buNone/>
                      </a:pPr>
                      <a:r>
                        <a:rPr lang="en-US">
                          <a:effectLst/>
                          <a:latin typeface="+mj-lt"/>
                        </a:rPr>
                        <a:t>130</a:t>
                      </a:r>
                    </a:p>
                  </a:txBody>
                  <a:tcPr anchor="ctr"/>
                </a:tc>
                <a:tc>
                  <a:txBody>
                    <a:bodyPr/>
                    <a:lstStyle/>
                    <a:p>
                      <a:pPr algn="r" fontAlgn="ctr">
                        <a:buNone/>
                      </a:pPr>
                      <a:r>
                        <a:rPr lang="en-US">
                          <a:effectLst/>
                          <a:latin typeface="+mj-lt"/>
                        </a:rPr>
                        <a:t>50.0</a:t>
                      </a:r>
                    </a:p>
                  </a:txBody>
                  <a:tcPr anchor="ctr"/>
                </a:tc>
                <a:tc>
                  <a:txBody>
                    <a:bodyPr/>
                    <a:lstStyle/>
                    <a:p>
                      <a:pPr algn="r" fontAlgn="ctr">
                        <a:buNone/>
                      </a:pPr>
                      <a:r>
                        <a:rPr lang="en-US">
                          <a:effectLst/>
                          <a:latin typeface="+mj-lt"/>
                        </a:rPr>
                        <a:t>75</a:t>
                      </a:r>
                    </a:p>
                  </a:txBody>
                  <a:tcPr anchor="ctr"/>
                </a:tc>
                <a:tc>
                  <a:txBody>
                    <a:bodyPr/>
                    <a:lstStyle/>
                    <a:p>
                      <a:pPr algn="r" fontAlgn="ctr">
                        <a:buNone/>
                      </a:pPr>
                      <a:r>
                        <a:rPr lang="en-US">
                          <a:effectLst/>
                          <a:latin typeface="+mj-lt"/>
                        </a:rPr>
                        <a:t>57.7</a:t>
                      </a:r>
                    </a:p>
                  </a:txBody>
                  <a:tcPr anchor="ctr"/>
                </a:tc>
                <a:tc>
                  <a:txBody>
                    <a:bodyPr/>
                    <a:lstStyle/>
                    <a:p>
                      <a:pPr algn="r" fontAlgn="ctr">
                        <a:buNone/>
                      </a:pPr>
                      <a:r>
                        <a:rPr lang="en-US" dirty="0">
                          <a:effectLst/>
                          <a:latin typeface="+mj-lt"/>
                        </a:rPr>
                        <a:t>402,020.0</a:t>
                      </a:r>
                    </a:p>
                  </a:txBody>
                  <a:tcPr anchor="ctr"/>
                </a:tc>
                <a:tc>
                  <a:txBody>
                    <a:bodyPr/>
                    <a:lstStyle/>
                    <a:p>
                      <a:pPr algn="r" fontAlgn="ctr">
                        <a:buNone/>
                      </a:pPr>
                      <a:r>
                        <a:rPr lang="en-US" dirty="0">
                          <a:effectLst/>
                          <a:latin typeface="+mj-lt"/>
                        </a:rPr>
                        <a:t>137,689.0</a:t>
                      </a:r>
                    </a:p>
                  </a:txBody>
                  <a:tcPr anchor="ctr"/>
                </a:tc>
                <a:extLst>
                  <a:ext uri="{0D108BD9-81ED-4DB2-BD59-A6C34878D82A}">
                    <a16:rowId xmlns:a16="http://schemas.microsoft.com/office/drawing/2014/main" val="2058991998"/>
                  </a:ext>
                </a:extLst>
              </a:tr>
              <a:tr h="370840">
                <a:tc>
                  <a:txBody>
                    <a:bodyPr/>
                    <a:lstStyle/>
                    <a:p>
                      <a:pPr algn="r" fontAlgn="ctr">
                        <a:buNone/>
                      </a:pPr>
                      <a:r>
                        <a:rPr lang="en-US" dirty="0">
                          <a:effectLst/>
                          <a:latin typeface="+mj-lt"/>
                        </a:rPr>
                        <a:t>13</a:t>
                      </a:r>
                    </a:p>
                  </a:txBody>
                  <a:tcPr anchor="ctr"/>
                </a:tc>
                <a:tc>
                  <a:txBody>
                    <a:bodyPr/>
                    <a:lstStyle/>
                    <a:p>
                      <a:pPr algn="r" fontAlgn="ctr">
                        <a:buNone/>
                      </a:pPr>
                      <a:r>
                        <a:rPr lang="en-US">
                          <a:effectLst/>
                          <a:latin typeface="+mj-lt"/>
                        </a:rPr>
                        <a:t>278</a:t>
                      </a:r>
                    </a:p>
                  </a:txBody>
                  <a:tcPr anchor="ctr"/>
                </a:tc>
                <a:tc>
                  <a:txBody>
                    <a:bodyPr/>
                    <a:lstStyle/>
                    <a:p>
                      <a:pPr algn="r" fontAlgn="ctr">
                        <a:buNone/>
                      </a:pPr>
                      <a:r>
                        <a:rPr lang="en-US">
                          <a:effectLst/>
                          <a:latin typeface="+mj-lt"/>
                        </a:rPr>
                        <a:t>145</a:t>
                      </a:r>
                    </a:p>
                  </a:txBody>
                  <a:tcPr anchor="ctr"/>
                </a:tc>
                <a:tc>
                  <a:txBody>
                    <a:bodyPr/>
                    <a:lstStyle/>
                    <a:p>
                      <a:pPr algn="r" fontAlgn="ctr">
                        <a:buNone/>
                      </a:pPr>
                      <a:r>
                        <a:rPr lang="en-US">
                          <a:effectLst/>
                          <a:latin typeface="+mj-lt"/>
                        </a:rPr>
                        <a:t>52.2</a:t>
                      </a:r>
                    </a:p>
                  </a:txBody>
                  <a:tcPr anchor="ctr"/>
                </a:tc>
                <a:tc>
                  <a:txBody>
                    <a:bodyPr/>
                    <a:lstStyle/>
                    <a:p>
                      <a:pPr algn="r" fontAlgn="ctr">
                        <a:buNone/>
                      </a:pPr>
                      <a:r>
                        <a:rPr lang="en-US">
                          <a:effectLst/>
                          <a:latin typeface="+mj-lt"/>
                        </a:rPr>
                        <a:t>84</a:t>
                      </a:r>
                    </a:p>
                  </a:txBody>
                  <a:tcPr anchor="ctr"/>
                </a:tc>
                <a:tc>
                  <a:txBody>
                    <a:bodyPr/>
                    <a:lstStyle/>
                    <a:p>
                      <a:pPr algn="r" fontAlgn="ctr">
                        <a:buNone/>
                      </a:pPr>
                      <a:r>
                        <a:rPr lang="en-US">
                          <a:effectLst/>
                          <a:latin typeface="+mj-lt"/>
                        </a:rPr>
                        <a:t>57.9</a:t>
                      </a:r>
                    </a:p>
                  </a:txBody>
                  <a:tcPr anchor="ctr"/>
                </a:tc>
                <a:tc>
                  <a:txBody>
                    <a:bodyPr/>
                    <a:lstStyle/>
                    <a:p>
                      <a:pPr algn="r" fontAlgn="ctr">
                        <a:buNone/>
                      </a:pPr>
                      <a:r>
                        <a:rPr lang="en-US" dirty="0">
                          <a:effectLst/>
                          <a:latin typeface="+mj-lt"/>
                        </a:rPr>
                        <a:t>456,719.0</a:t>
                      </a:r>
                    </a:p>
                  </a:txBody>
                  <a:tcPr anchor="ctr"/>
                </a:tc>
                <a:tc>
                  <a:txBody>
                    <a:bodyPr/>
                    <a:lstStyle/>
                    <a:p>
                      <a:pPr algn="r" fontAlgn="ctr">
                        <a:buNone/>
                      </a:pPr>
                      <a:r>
                        <a:rPr lang="en-US" dirty="0">
                          <a:effectLst/>
                          <a:latin typeface="+mj-lt"/>
                        </a:rPr>
                        <a:t>135,526.0</a:t>
                      </a:r>
                    </a:p>
                  </a:txBody>
                  <a:tcPr anchor="ctr"/>
                </a:tc>
                <a:extLst>
                  <a:ext uri="{0D108BD9-81ED-4DB2-BD59-A6C34878D82A}">
                    <a16:rowId xmlns:a16="http://schemas.microsoft.com/office/drawing/2014/main" val="2443078099"/>
                  </a:ext>
                </a:extLst>
              </a:tr>
              <a:tr h="370840">
                <a:tc>
                  <a:txBody>
                    <a:bodyPr/>
                    <a:lstStyle/>
                    <a:p>
                      <a:pPr algn="r" fontAlgn="ctr">
                        <a:buNone/>
                      </a:pPr>
                      <a:r>
                        <a:rPr lang="en-US" dirty="0">
                          <a:effectLst/>
                          <a:latin typeface="+mj-lt"/>
                        </a:rPr>
                        <a:t>203</a:t>
                      </a:r>
                    </a:p>
                  </a:txBody>
                  <a:tcPr anchor="ctr"/>
                </a:tc>
                <a:tc>
                  <a:txBody>
                    <a:bodyPr/>
                    <a:lstStyle/>
                    <a:p>
                      <a:pPr algn="r" fontAlgn="ctr">
                        <a:buNone/>
                      </a:pPr>
                      <a:r>
                        <a:rPr lang="en-US">
                          <a:effectLst/>
                          <a:latin typeface="+mj-lt"/>
                        </a:rPr>
                        <a:t>282</a:t>
                      </a:r>
                    </a:p>
                  </a:txBody>
                  <a:tcPr anchor="ctr"/>
                </a:tc>
                <a:tc>
                  <a:txBody>
                    <a:bodyPr/>
                    <a:lstStyle/>
                    <a:p>
                      <a:pPr algn="r" fontAlgn="ctr">
                        <a:buNone/>
                      </a:pPr>
                      <a:r>
                        <a:rPr lang="en-US">
                          <a:effectLst/>
                          <a:latin typeface="+mj-lt"/>
                        </a:rPr>
                        <a:t>149</a:t>
                      </a:r>
                    </a:p>
                  </a:txBody>
                  <a:tcPr anchor="ctr"/>
                </a:tc>
                <a:tc>
                  <a:txBody>
                    <a:bodyPr/>
                    <a:lstStyle/>
                    <a:p>
                      <a:pPr algn="r" fontAlgn="ctr">
                        <a:buNone/>
                      </a:pPr>
                      <a:r>
                        <a:rPr lang="en-US">
                          <a:effectLst/>
                          <a:latin typeface="+mj-lt"/>
                        </a:rPr>
                        <a:t>52.8</a:t>
                      </a:r>
                    </a:p>
                  </a:txBody>
                  <a:tcPr anchor="ctr"/>
                </a:tc>
                <a:tc>
                  <a:txBody>
                    <a:bodyPr/>
                    <a:lstStyle/>
                    <a:p>
                      <a:pPr algn="r" fontAlgn="ctr">
                        <a:buNone/>
                      </a:pPr>
                      <a:r>
                        <a:rPr lang="en-US">
                          <a:effectLst/>
                          <a:latin typeface="+mj-lt"/>
                        </a:rPr>
                        <a:t>90</a:t>
                      </a:r>
                    </a:p>
                  </a:txBody>
                  <a:tcPr anchor="ctr"/>
                </a:tc>
                <a:tc>
                  <a:txBody>
                    <a:bodyPr/>
                    <a:lstStyle/>
                    <a:p>
                      <a:pPr algn="r" fontAlgn="ctr">
                        <a:buNone/>
                      </a:pPr>
                      <a:r>
                        <a:rPr lang="en-US">
                          <a:effectLst/>
                          <a:latin typeface="+mj-lt"/>
                        </a:rPr>
                        <a:t>60.4</a:t>
                      </a:r>
                    </a:p>
                  </a:txBody>
                  <a:tcPr anchor="ctr"/>
                </a:tc>
                <a:tc>
                  <a:txBody>
                    <a:bodyPr/>
                    <a:lstStyle/>
                    <a:p>
                      <a:pPr algn="r" fontAlgn="ctr">
                        <a:buNone/>
                      </a:pPr>
                      <a:r>
                        <a:rPr lang="en-US" dirty="0">
                          <a:effectLst/>
                          <a:latin typeface="+mj-lt"/>
                        </a:rPr>
                        <a:t>457,473.0</a:t>
                      </a:r>
                    </a:p>
                  </a:txBody>
                  <a:tcPr anchor="ctr"/>
                </a:tc>
                <a:tc>
                  <a:txBody>
                    <a:bodyPr/>
                    <a:lstStyle/>
                    <a:p>
                      <a:pPr algn="r" fontAlgn="ctr">
                        <a:buNone/>
                      </a:pPr>
                      <a:r>
                        <a:rPr lang="en-US" dirty="0">
                          <a:effectLst/>
                          <a:latin typeface="+mj-lt"/>
                        </a:rPr>
                        <a:t>135,373.0</a:t>
                      </a:r>
                    </a:p>
                  </a:txBody>
                  <a:tcPr anchor="ctr"/>
                </a:tc>
                <a:extLst>
                  <a:ext uri="{0D108BD9-81ED-4DB2-BD59-A6C34878D82A}">
                    <a16:rowId xmlns:a16="http://schemas.microsoft.com/office/drawing/2014/main" val="3042856465"/>
                  </a:ext>
                </a:extLst>
              </a:tr>
              <a:tr h="370840">
                <a:tc>
                  <a:txBody>
                    <a:bodyPr/>
                    <a:lstStyle/>
                    <a:p>
                      <a:pPr algn="r" fontAlgn="ctr">
                        <a:buNone/>
                      </a:pPr>
                      <a:r>
                        <a:rPr lang="en-US" dirty="0">
                          <a:effectLst/>
                          <a:latin typeface="+mj-lt"/>
                        </a:rPr>
                        <a:t>173</a:t>
                      </a:r>
                    </a:p>
                  </a:txBody>
                  <a:tcPr anchor="ctr"/>
                </a:tc>
                <a:tc>
                  <a:txBody>
                    <a:bodyPr/>
                    <a:lstStyle/>
                    <a:p>
                      <a:pPr algn="r" fontAlgn="ctr">
                        <a:buNone/>
                      </a:pPr>
                      <a:r>
                        <a:rPr lang="en-US">
                          <a:effectLst/>
                          <a:latin typeface="+mj-lt"/>
                        </a:rPr>
                        <a:t>278</a:t>
                      </a:r>
                    </a:p>
                  </a:txBody>
                  <a:tcPr anchor="ctr"/>
                </a:tc>
                <a:tc>
                  <a:txBody>
                    <a:bodyPr/>
                    <a:lstStyle/>
                    <a:p>
                      <a:pPr algn="r" fontAlgn="ctr">
                        <a:buNone/>
                      </a:pPr>
                      <a:r>
                        <a:rPr lang="en-US">
                          <a:effectLst/>
                          <a:latin typeface="+mj-lt"/>
                        </a:rPr>
                        <a:t>153</a:t>
                      </a:r>
                    </a:p>
                  </a:txBody>
                  <a:tcPr anchor="ctr"/>
                </a:tc>
                <a:tc>
                  <a:txBody>
                    <a:bodyPr/>
                    <a:lstStyle/>
                    <a:p>
                      <a:pPr algn="r" fontAlgn="ctr">
                        <a:buNone/>
                      </a:pPr>
                      <a:r>
                        <a:rPr lang="en-US">
                          <a:effectLst/>
                          <a:latin typeface="+mj-lt"/>
                        </a:rPr>
                        <a:t>55.0</a:t>
                      </a:r>
                    </a:p>
                  </a:txBody>
                  <a:tcPr anchor="ctr"/>
                </a:tc>
                <a:tc>
                  <a:txBody>
                    <a:bodyPr/>
                    <a:lstStyle/>
                    <a:p>
                      <a:pPr algn="r" fontAlgn="ctr">
                        <a:buNone/>
                      </a:pPr>
                      <a:r>
                        <a:rPr lang="en-US">
                          <a:effectLst/>
                          <a:latin typeface="+mj-lt"/>
                        </a:rPr>
                        <a:t>75</a:t>
                      </a:r>
                    </a:p>
                  </a:txBody>
                  <a:tcPr anchor="ctr"/>
                </a:tc>
                <a:tc>
                  <a:txBody>
                    <a:bodyPr/>
                    <a:lstStyle/>
                    <a:p>
                      <a:pPr algn="r" fontAlgn="ctr">
                        <a:buNone/>
                      </a:pPr>
                      <a:r>
                        <a:rPr lang="en-US">
                          <a:effectLst/>
                          <a:latin typeface="+mj-lt"/>
                        </a:rPr>
                        <a:t>49.0</a:t>
                      </a:r>
                    </a:p>
                  </a:txBody>
                  <a:tcPr anchor="ctr"/>
                </a:tc>
                <a:tc>
                  <a:txBody>
                    <a:bodyPr/>
                    <a:lstStyle/>
                    <a:p>
                      <a:pPr algn="r" fontAlgn="ctr">
                        <a:buNone/>
                      </a:pPr>
                      <a:r>
                        <a:rPr lang="en-US" dirty="0">
                          <a:effectLst/>
                          <a:latin typeface="+mj-lt"/>
                        </a:rPr>
                        <a:t>487,954.0</a:t>
                      </a:r>
                    </a:p>
                  </a:txBody>
                  <a:tcPr anchor="ctr"/>
                </a:tc>
                <a:tc>
                  <a:txBody>
                    <a:bodyPr/>
                    <a:lstStyle/>
                    <a:p>
                      <a:pPr algn="r" fontAlgn="ctr">
                        <a:buNone/>
                      </a:pPr>
                      <a:r>
                        <a:rPr lang="en-US" sz="1800" b="0" i="0" kern="1200" dirty="0">
                          <a:solidFill>
                            <a:schemeClr val="dk1"/>
                          </a:solidFill>
                          <a:effectLst/>
                          <a:latin typeface="+mj-lt"/>
                          <a:ea typeface="+mn-ea"/>
                          <a:cs typeface="+mn-cs"/>
                        </a:rPr>
                        <a:t>133,215.0</a:t>
                      </a:r>
                      <a:endParaRPr lang="en-US" dirty="0">
                        <a:effectLst/>
                        <a:latin typeface="+mj-lt"/>
                      </a:endParaRPr>
                    </a:p>
                  </a:txBody>
                  <a:tcPr anchor="ctr"/>
                </a:tc>
                <a:extLst>
                  <a:ext uri="{0D108BD9-81ED-4DB2-BD59-A6C34878D82A}">
                    <a16:rowId xmlns:a16="http://schemas.microsoft.com/office/drawing/2014/main" val="2796167197"/>
                  </a:ext>
                </a:extLst>
              </a:tr>
              <a:tr h="370840">
                <a:tc>
                  <a:txBody>
                    <a:bodyPr/>
                    <a:lstStyle/>
                    <a:p>
                      <a:pPr algn="r" fontAlgn="ctr">
                        <a:buNone/>
                      </a:pPr>
                      <a:r>
                        <a:rPr lang="en-US" dirty="0">
                          <a:effectLst/>
                          <a:latin typeface="+mj-lt"/>
                        </a:rPr>
                        <a:t>171</a:t>
                      </a:r>
                    </a:p>
                  </a:txBody>
                  <a:tcPr anchor="ctr"/>
                </a:tc>
                <a:tc>
                  <a:txBody>
                    <a:bodyPr/>
                    <a:lstStyle/>
                    <a:p>
                      <a:pPr algn="r" fontAlgn="ctr">
                        <a:buNone/>
                      </a:pPr>
                      <a:r>
                        <a:rPr lang="en-US">
                          <a:effectLst/>
                          <a:latin typeface="+mj-lt"/>
                        </a:rPr>
                        <a:t>287</a:t>
                      </a:r>
                    </a:p>
                  </a:txBody>
                  <a:tcPr anchor="ctr"/>
                </a:tc>
                <a:tc>
                  <a:txBody>
                    <a:bodyPr/>
                    <a:lstStyle/>
                    <a:p>
                      <a:pPr algn="r" fontAlgn="ctr">
                        <a:buNone/>
                      </a:pPr>
                      <a:r>
                        <a:rPr lang="en-US">
                          <a:effectLst/>
                          <a:latin typeface="+mj-lt"/>
                        </a:rPr>
                        <a:t>153</a:t>
                      </a:r>
                    </a:p>
                  </a:txBody>
                  <a:tcPr anchor="ctr"/>
                </a:tc>
                <a:tc>
                  <a:txBody>
                    <a:bodyPr/>
                    <a:lstStyle/>
                    <a:p>
                      <a:pPr algn="r" fontAlgn="ctr">
                        <a:buNone/>
                      </a:pPr>
                      <a:r>
                        <a:rPr lang="en-US">
                          <a:effectLst/>
                          <a:latin typeface="+mj-lt"/>
                        </a:rPr>
                        <a:t>53.3</a:t>
                      </a:r>
                    </a:p>
                  </a:txBody>
                  <a:tcPr anchor="ctr"/>
                </a:tc>
                <a:tc>
                  <a:txBody>
                    <a:bodyPr/>
                    <a:lstStyle/>
                    <a:p>
                      <a:pPr algn="r" fontAlgn="ctr">
                        <a:buNone/>
                      </a:pPr>
                      <a:r>
                        <a:rPr lang="en-US">
                          <a:effectLst/>
                          <a:latin typeface="+mj-lt"/>
                        </a:rPr>
                        <a:t>81</a:t>
                      </a:r>
                    </a:p>
                  </a:txBody>
                  <a:tcPr anchor="ctr"/>
                </a:tc>
                <a:tc>
                  <a:txBody>
                    <a:bodyPr/>
                    <a:lstStyle/>
                    <a:p>
                      <a:pPr algn="r" fontAlgn="ctr">
                        <a:buNone/>
                      </a:pPr>
                      <a:r>
                        <a:rPr lang="en-US">
                          <a:effectLst/>
                          <a:latin typeface="+mj-lt"/>
                        </a:rPr>
                        <a:t>52.9</a:t>
                      </a:r>
                    </a:p>
                  </a:txBody>
                  <a:tcPr anchor="ctr"/>
                </a:tc>
                <a:tc>
                  <a:txBody>
                    <a:bodyPr/>
                    <a:lstStyle/>
                    <a:p>
                      <a:pPr algn="r" fontAlgn="ctr">
                        <a:buNone/>
                      </a:pPr>
                      <a:r>
                        <a:rPr lang="en-US" dirty="0">
                          <a:effectLst/>
                          <a:latin typeface="+mj-lt"/>
                        </a:rPr>
                        <a:t>486,626.0</a:t>
                      </a:r>
                    </a:p>
                  </a:txBody>
                  <a:tcPr anchor="ctr"/>
                </a:tc>
                <a:tc>
                  <a:txBody>
                    <a:bodyPr/>
                    <a:lstStyle/>
                    <a:p>
                      <a:pPr algn="r" fontAlgn="ctr">
                        <a:buNone/>
                      </a:pPr>
                      <a:r>
                        <a:rPr lang="en-US" dirty="0">
                          <a:effectLst/>
                          <a:latin typeface="+mj-lt"/>
                        </a:rPr>
                        <a:t>132,396.0</a:t>
                      </a:r>
                    </a:p>
                  </a:txBody>
                  <a:tcPr anchor="ctr"/>
                </a:tc>
                <a:extLst>
                  <a:ext uri="{0D108BD9-81ED-4DB2-BD59-A6C34878D82A}">
                    <a16:rowId xmlns:a16="http://schemas.microsoft.com/office/drawing/2014/main" val="1963305733"/>
                  </a:ext>
                </a:extLst>
              </a:tr>
              <a:tr h="370840">
                <a:tc>
                  <a:txBody>
                    <a:bodyPr/>
                    <a:lstStyle/>
                    <a:p>
                      <a:pPr algn="r" fontAlgn="ctr">
                        <a:buNone/>
                      </a:pPr>
                      <a:r>
                        <a:rPr lang="en-US" dirty="0">
                          <a:effectLst/>
                          <a:latin typeface="+mj-lt"/>
                        </a:rPr>
                        <a:t>65</a:t>
                      </a:r>
                    </a:p>
                  </a:txBody>
                  <a:tcPr anchor="ctr"/>
                </a:tc>
                <a:tc>
                  <a:txBody>
                    <a:bodyPr/>
                    <a:lstStyle/>
                    <a:p>
                      <a:pPr algn="r" fontAlgn="ctr">
                        <a:buNone/>
                      </a:pPr>
                      <a:r>
                        <a:rPr lang="en-US">
                          <a:effectLst/>
                          <a:latin typeface="+mj-lt"/>
                        </a:rPr>
                        <a:t>292</a:t>
                      </a:r>
                    </a:p>
                  </a:txBody>
                  <a:tcPr anchor="ctr"/>
                </a:tc>
                <a:tc>
                  <a:txBody>
                    <a:bodyPr/>
                    <a:lstStyle/>
                    <a:p>
                      <a:pPr algn="r" fontAlgn="ctr">
                        <a:buNone/>
                      </a:pPr>
                      <a:r>
                        <a:rPr lang="en-US">
                          <a:effectLst/>
                          <a:latin typeface="+mj-lt"/>
                        </a:rPr>
                        <a:t>145</a:t>
                      </a:r>
                    </a:p>
                  </a:txBody>
                  <a:tcPr anchor="ctr"/>
                </a:tc>
                <a:tc>
                  <a:txBody>
                    <a:bodyPr/>
                    <a:lstStyle/>
                    <a:p>
                      <a:pPr algn="r" fontAlgn="ctr">
                        <a:buNone/>
                      </a:pPr>
                      <a:r>
                        <a:rPr lang="en-US">
                          <a:effectLst/>
                          <a:latin typeface="+mj-lt"/>
                        </a:rPr>
                        <a:t>49.7</a:t>
                      </a:r>
                    </a:p>
                  </a:txBody>
                  <a:tcPr anchor="ctr"/>
                </a:tc>
                <a:tc>
                  <a:txBody>
                    <a:bodyPr/>
                    <a:lstStyle/>
                    <a:p>
                      <a:pPr algn="r" fontAlgn="ctr">
                        <a:buNone/>
                      </a:pPr>
                      <a:r>
                        <a:rPr lang="en-US">
                          <a:effectLst/>
                          <a:latin typeface="+mj-lt"/>
                        </a:rPr>
                        <a:t>80</a:t>
                      </a:r>
                    </a:p>
                  </a:txBody>
                  <a:tcPr anchor="ctr"/>
                </a:tc>
                <a:tc>
                  <a:txBody>
                    <a:bodyPr/>
                    <a:lstStyle/>
                    <a:p>
                      <a:pPr algn="r" fontAlgn="ctr">
                        <a:buNone/>
                      </a:pPr>
                      <a:r>
                        <a:rPr lang="en-US">
                          <a:effectLst/>
                          <a:latin typeface="+mj-lt"/>
                        </a:rPr>
                        <a:t>55.2</a:t>
                      </a:r>
                    </a:p>
                  </a:txBody>
                  <a:tcPr anchor="ctr"/>
                </a:tc>
                <a:tc>
                  <a:txBody>
                    <a:bodyPr/>
                    <a:lstStyle/>
                    <a:p>
                      <a:pPr algn="r" fontAlgn="ctr">
                        <a:buNone/>
                      </a:pPr>
                      <a:r>
                        <a:rPr lang="en-US" dirty="0">
                          <a:effectLst/>
                          <a:latin typeface="+mj-lt"/>
                        </a:rPr>
                        <a:t>446,946.0</a:t>
                      </a:r>
                    </a:p>
                  </a:txBody>
                  <a:tcPr anchor="ctr"/>
                </a:tc>
                <a:tc>
                  <a:txBody>
                    <a:bodyPr/>
                    <a:lstStyle/>
                    <a:p>
                      <a:pPr algn="r" fontAlgn="ctr">
                        <a:buNone/>
                      </a:pPr>
                      <a:r>
                        <a:rPr lang="en-US" dirty="0">
                          <a:effectLst/>
                          <a:latin typeface="+mj-lt"/>
                        </a:rPr>
                        <a:t>132,227.0</a:t>
                      </a:r>
                    </a:p>
                  </a:txBody>
                  <a:tcPr anchor="ctr"/>
                </a:tc>
                <a:extLst>
                  <a:ext uri="{0D108BD9-81ED-4DB2-BD59-A6C34878D82A}">
                    <a16:rowId xmlns:a16="http://schemas.microsoft.com/office/drawing/2014/main" val="4108212922"/>
                  </a:ext>
                </a:extLst>
              </a:tr>
            </a:tbl>
          </a:graphicData>
        </a:graphic>
      </p:graphicFrame>
    </p:spTree>
    <p:extLst>
      <p:ext uri="{BB962C8B-B14F-4D97-AF65-F5344CB8AC3E}">
        <p14:creationId xmlns:p14="http://schemas.microsoft.com/office/powerpoint/2010/main" val="25575223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973634-C049-1618-7D6C-27E5A25E56E7}"/>
              </a:ext>
            </a:extLst>
          </p:cNvPr>
          <p:cNvSpPr>
            <a:spLocks noGrp="1"/>
          </p:cNvSpPr>
          <p:nvPr>
            <p:ph type="title"/>
          </p:nvPr>
        </p:nvSpPr>
        <p:spPr/>
        <p:txBody>
          <a:bodyPr/>
          <a:lstStyle/>
          <a:p>
            <a:r>
              <a:rPr lang="en-US" dirty="0"/>
              <a:t>Task #4: Marketing Strategies ROI</a:t>
            </a:r>
            <a:br>
              <a:rPr lang="en-US" dirty="0"/>
            </a:br>
            <a:r>
              <a:rPr lang="en-US" sz="2000" dirty="0"/>
              <a:t>Only three Marketing Strategies generated more Dollars Used than their associated spend: Referral Marketing, Facebook Ads, and Instagram Ads.</a:t>
            </a:r>
            <a:endParaRPr lang="en-US" dirty="0"/>
          </a:p>
        </p:txBody>
      </p:sp>
      <p:graphicFrame>
        <p:nvGraphicFramePr>
          <p:cNvPr id="4" name="Content Placeholder 3">
            <a:extLst>
              <a:ext uri="{FF2B5EF4-FFF2-40B4-BE49-F238E27FC236}">
                <a16:creationId xmlns:a16="http://schemas.microsoft.com/office/drawing/2014/main" id="{62BEED98-0B7B-183C-E155-B3FD86815F98}"/>
              </a:ext>
            </a:extLst>
          </p:cNvPr>
          <p:cNvGraphicFramePr>
            <a:graphicFrameLocks noGrp="1"/>
          </p:cNvGraphicFramePr>
          <p:nvPr>
            <p:ph idx="1"/>
            <p:extLst>
              <p:ext uri="{D42A27DB-BD31-4B8C-83A1-F6EECF244321}">
                <p14:modId xmlns:p14="http://schemas.microsoft.com/office/powerpoint/2010/main" val="3774524408"/>
              </p:ext>
            </p:extLst>
          </p:nvPr>
        </p:nvGraphicFramePr>
        <p:xfrm>
          <a:off x="838200" y="1825625"/>
          <a:ext cx="10515600" cy="4351338"/>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32593849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CA2BA4-A590-E66B-D833-47AB2602A606}"/>
              </a:ext>
            </a:extLst>
          </p:cNvPr>
          <p:cNvSpPr>
            <a:spLocks noGrp="1"/>
          </p:cNvSpPr>
          <p:nvPr>
            <p:ph type="title"/>
          </p:nvPr>
        </p:nvSpPr>
        <p:spPr/>
        <p:txBody>
          <a:bodyPr>
            <a:normAutofit fontScale="90000"/>
          </a:bodyPr>
          <a:lstStyle/>
          <a:p>
            <a:r>
              <a:rPr lang="en-US" dirty="0"/>
              <a:t>Task #5: Stores That Convert</a:t>
            </a:r>
            <a:br>
              <a:rPr lang="en-US" dirty="0"/>
            </a:br>
            <a:r>
              <a:rPr lang="en-US" sz="2000" dirty="0"/>
              <a:t>Store-level conversion of approved dollars into used dollars ranges from as high as 60% to as low as 36% suggesting that there may be practices at higher-performing stores worth looking into. Listed below are the top 10 performing stores by Usage Rate.</a:t>
            </a:r>
            <a:endParaRPr lang="en-US" dirty="0"/>
          </a:p>
        </p:txBody>
      </p:sp>
      <p:graphicFrame>
        <p:nvGraphicFramePr>
          <p:cNvPr id="4" name="Content Placeholder 3">
            <a:extLst>
              <a:ext uri="{FF2B5EF4-FFF2-40B4-BE49-F238E27FC236}">
                <a16:creationId xmlns:a16="http://schemas.microsoft.com/office/drawing/2014/main" id="{297178F3-175F-C043-10BE-0D76B9D7C101}"/>
              </a:ext>
            </a:extLst>
          </p:cNvPr>
          <p:cNvGraphicFramePr>
            <a:graphicFrameLocks noGrp="1"/>
          </p:cNvGraphicFramePr>
          <p:nvPr>
            <p:ph idx="1"/>
            <p:extLst>
              <p:ext uri="{D42A27DB-BD31-4B8C-83A1-F6EECF244321}">
                <p14:modId xmlns:p14="http://schemas.microsoft.com/office/powerpoint/2010/main" val="267252834"/>
              </p:ext>
            </p:extLst>
          </p:nvPr>
        </p:nvGraphicFramePr>
        <p:xfrm>
          <a:off x="838200" y="1825625"/>
          <a:ext cx="10515600" cy="4351338"/>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282686118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D1D089A-F4AB-B6E8-79C5-99FE4D441121}"/>
              </a:ext>
            </a:extLst>
          </p:cNvPr>
          <p:cNvSpPr>
            <a:spLocks noGrp="1"/>
          </p:cNvSpPr>
          <p:nvPr>
            <p:ph idx="1"/>
          </p:nvPr>
        </p:nvSpPr>
        <p:spPr>
          <a:xfrm>
            <a:off x="838200" y="960120"/>
            <a:ext cx="10515600" cy="4937759"/>
          </a:xfrm>
        </p:spPr>
        <p:txBody>
          <a:bodyPr>
            <a:normAutofit fontScale="70000" lnSpcReduction="20000"/>
          </a:bodyPr>
          <a:lstStyle/>
          <a:p>
            <a:pPr marL="0" indent="0">
              <a:buNone/>
            </a:pPr>
            <a:r>
              <a:rPr lang="en-US" sz="3600" b="1" dirty="0">
                <a:latin typeface="+mj-lt"/>
              </a:rPr>
              <a:t>What We Learned</a:t>
            </a:r>
          </a:p>
          <a:p>
            <a:r>
              <a:rPr lang="en-US" dirty="0">
                <a:latin typeface="+mj-lt"/>
              </a:rPr>
              <a:t>Application, approval, and usage volumes remained stable from Jan 2022–Dec 2023, indicating consistent demand.</a:t>
            </a:r>
          </a:p>
          <a:p>
            <a:r>
              <a:rPr lang="en-US" dirty="0">
                <a:latin typeface="+mj-lt"/>
              </a:rPr>
              <a:t>Approved customers who used funds consistently utilized ~50–54% of their approved amounts.</a:t>
            </a:r>
          </a:p>
          <a:p>
            <a:r>
              <a:rPr lang="en-US" dirty="0">
                <a:latin typeface="+mj-lt"/>
              </a:rPr>
              <a:t>Store-level performance varies meaningfully, with usage rates ranging from ~36% to ~60%.</a:t>
            </a:r>
          </a:p>
          <a:p>
            <a:r>
              <a:rPr lang="en-US" dirty="0">
                <a:latin typeface="+mj-lt"/>
              </a:rPr>
              <a:t>Only three marketing strategies (Referral, Facebook, Instagram) generated positive ROI.</a:t>
            </a:r>
          </a:p>
          <a:p>
            <a:pPr marL="0" indent="0">
              <a:buNone/>
            </a:pPr>
            <a:r>
              <a:rPr lang="en-US" sz="3700" b="1" dirty="0">
                <a:latin typeface="+mj-lt"/>
              </a:rPr>
              <a:t>Why It </a:t>
            </a:r>
            <a:r>
              <a:rPr lang="en-US" sz="3600" b="1" dirty="0">
                <a:latin typeface="+mj-lt"/>
              </a:rPr>
              <a:t>Matters</a:t>
            </a:r>
          </a:p>
          <a:p>
            <a:r>
              <a:rPr lang="en-US" dirty="0">
                <a:latin typeface="+mj-lt"/>
              </a:rPr>
              <a:t>Demand stability enables reliable forecasting and capacity planning.</a:t>
            </a:r>
          </a:p>
          <a:p>
            <a:r>
              <a:rPr lang="en-US" dirty="0">
                <a:latin typeface="+mj-lt"/>
              </a:rPr>
              <a:t>Store-level variance suggests operational practices materially impact conversion.</a:t>
            </a:r>
          </a:p>
          <a:p>
            <a:r>
              <a:rPr lang="en-US" dirty="0">
                <a:latin typeface="+mj-lt"/>
              </a:rPr>
              <a:t>Marketing efficiency can be improved by reallocating spend away from negative-ROI channels.</a:t>
            </a:r>
          </a:p>
          <a:p>
            <a:pPr marL="0" indent="0">
              <a:buNone/>
            </a:pPr>
            <a:r>
              <a:rPr lang="en-US" sz="3600" b="1" dirty="0">
                <a:latin typeface="+mj-lt"/>
              </a:rPr>
              <a:t>Recommended Next Steps</a:t>
            </a:r>
          </a:p>
          <a:p>
            <a:r>
              <a:rPr lang="en-US" dirty="0">
                <a:latin typeface="+mj-lt"/>
              </a:rPr>
              <a:t>Identify and replicate best practices from top-performing stores.</a:t>
            </a:r>
          </a:p>
          <a:p>
            <a:r>
              <a:rPr lang="en-US" dirty="0">
                <a:latin typeface="+mj-lt"/>
              </a:rPr>
              <a:t>Investigate drivers of partial utilization among approved customers.</a:t>
            </a:r>
          </a:p>
          <a:p>
            <a:r>
              <a:rPr lang="en-US" dirty="0">
                <a:latin typeface="+mj-lt"/>
              </a:rPr>
              <a:t>Reassess underperforming marketing channels and prioritize proven strategies.</a:t>
            </a:r>
          </a:p>
          <a:p>
            <a:endParaRPr lang="en-US" dirty="0"/>
          </a:p>
        </p:txBody>
      </p:sp>
    </p:spTree>
    <p:extLst>
      <p:ext uri="{BB962C8B-B14F-4D97-AF65-F5344CB8AC3E}">
        <p14:creationId xmlns:p14="http://schemas.microsoft.com/office/powerpoint/2010/main" val="4169677314"/>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2013 - 2022 Theme</Template>
  <TotalTime>1165</TotalTime>
  <Words>627</Words>
  <Application>Microsoft Macintosh PowerPoint</Application>
  <PresentationFormat>Widescreen</PresentationFormat>
  <Paragraphs>123</Paragraphs>
  <Slides>8</Slides>
  <Notes>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Aptos</vt:lpstr>
      <vt:lpstr>Arial</vt:lpstr>
      <vt:lpstr>Calibri</vt:lpstr>
      <vt:lpstr>Calibri Light</vt:lpstr>
      <vt:lpstr>Office 2013 - 2022 Theme</vt:lpstr>
      <vt:lpstr>Snap Finance Take Home</vt:lpstr>
      <vt:lpstr>Introduction</vt:lpstr>
      <vt:lpstr>Task 1: Calculate Application Trends Applications, Approved Applications, and Used Applications have remained stable from January 2022 through December 2023, which allows for confident planning and forecasting</vt:lpstr>
      <vt:lpstr>Task 2: Average Approved vs Average Used For Approved Applications that Used Funds, average utilization ranged from 50.3% to 54.1% between January 2022 and December 2023.</vt:lpstr>
      <vt:lpstr>Task 3: Table with Store Level KPIs The table below shows the Top 10 stores based on Total Used Amount, along with 6 other Store Level KPIs. </vt:lpstr>
      <vt:lpstr>Task #4: Marketing Strategies ROI Only three Marketing Strategies generated more Dollars Used than their associated spend: Referral Marketing, Facebook Ads, and Instagram Ads.</vt:lpstr>
      <vt:lpstr>Task #5: Stores That Convert Store-level conversion of approved dollars into used dollars ranges from as high as 60% to as low as 36% suggesting that there may be practices at higher-performing stores worth looking into. Listed below are the top 10 performing stores by Usage Rate.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Samuel Henderson</dc:creator>
  <cp:lastModifiedBy>Samuel Henderson</cp:lastModifiedBy>
  <cp:revision>2</cp:revision>
  <dcterms:created xsi:type="dcterms:W3CDTF">2025-12-30T02:11:35Z</dcterms:created>
  <dcterms:modified xsi:type="dcterms:W3CDTF">2025-12-30T22:34:15Z</dcterms:modified>
</cp:coreProperties>
</file>