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62" r:id="rId3"/>
    <p:sldId id="258" r:id="rId4"/>
    <p:sldId id="259" r:id="rId5"/>
    <p:sldId id="260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43"/>
  </p:normalViewPr>
  <p:slideViewPr>
    <p:cSldViewPr snapToGrid="0">
      <p:cViewPr>
        <p:scale>
          <a:sx n="70" d="100"/>
          <a:sy n="70" d="100"/>
        </p:scale>
        <p:origin x="872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2775</c:v>
                </c:pt>
                <c:pt idx="1">
                  <c:v>2514</c:v>
                </c:pt>
                <c:pt idx="2">
                  <c:v>2723</c:v>
                </c:pt>
                <c:pt idx="3">
                  <c:v>2693</c:v>
                </c:pt>
                <c:pt idx="4">
                  <c:v>2787</c:v>
                </c:pt>
                <c:pt idx="5">
                  <c:v>2747</c:v>
                </c:pt>
                <c:pt idx="6">
                  <c:v>2824</c:v>
                </c:pt>
                <c:pt idx="7">
                  <c:v>2744</c:v>
                </c:pt>
                <c:pt idx="8">
                  <c:v>2706</c:v>
                </c:pt>
                <c:pt idx="9">
                  <c:v>2818</c:v>
                </c:pt>
                <c:pt idx="10">
                  <c:v>2720</c:v>
                </c:pt>
                <c:pt idx="11">
                  <c:v>2730</c:v>
                </c:pt>
                <c:pt idx="12">
                  <c:v>2709</c:v>
                </c:pt>
                <c:pt idx="13">
                  <c:v>2492</c:v>
                </c:pt>
                <c:pt idx="14">
                  <c:v>2808</c:v>
                </c:pt>
                <c:pt idx="15">
                  <c:v>2666</c:v>
                </c:pt>
                <c:pt idx="16">
                  <c:v>2682</c:v>
                </c:pt>
                <c:pt idx="17">
                  <c:v>2742</c:v>
                </c:pt>
                <c:pt idx="18">
                  <c:v>2734</c:v>
                </c:pt>
                <c:pt idx="19">
                  <c:v>2854</c:v>
                </c:pt>
                <c:pt idx="20">
                  <c:v>2730</c:v>
                </c:pt>
                <c:pt idx="21">
                  <c:v>2874</c:v>
                </c:pt>
                <c:pt idx="22">
                  <c:v>2688</c:v>
                </c:pt>
                <c:pt idx="23">
                  <c:v>2775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38-5A44-AEED-5F2D170EE1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Approved Applications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1383</c:v>
                </c:pt>
                <c:pt idx="1">
                  <c:v>1282</c:v>
                </c:pt>
                <c:pt idx="2">
                  <c:v>1352</c:v>
                </c:pt>
                <c:pt idx="3">
                  <c:v>1284</c:v>
                </c:pt>
                <c:pt idx="4">
                  <c:v>1346</c:v>
                </c:pt>
                <c:pt idx="5">
                  <c:v>1391</c:v>
                </c:pt>
                <c:pt idx="6">
                  <c:v>1376</c:v>
                </c:pt>
                <c:pt idx="7">
                  <c:v>1379</c:v>
                </c:pt>
                <c:pt idx="8">
                  <c:v>1350</c:v>
                </c:pt>
                <c:pt idx="9">
                  <c:v>1422</c:v>
                </c:pt>
                <c:pt idx="10">
                  <c:v>1391</c:v>
                </c:pt>
                <c:pt idx="11">
                  <c:v>1359</c:v>
                </c:pt>
                <c:pt idx="12">
                  <c:v>1389</c:v>
                </c:pt>
                <c:pt idx="13">
                  <c:v>1284</c:v>
                </c:pt>
                <c:pt idx="14">
                  <c:v>1355</c:v>
                </c:pt>
                <c:pt idx="15">
                  <c:v>1351</c:v>
                </c:pt>
                <c:pt idx="16">
                  <c:v>1353</c:v>
                </c:pt>
                <c:pt idx="17">
                  <c:v>1363</c:v>
                </c:pt>
                <c:pt idx="18">
                  <c:v>1348</c:v>
                </c:pt>
                <c:pt idx="19">
                  <c:v>1436</c:v>
                </c:pt>
                <c:pt idx="20">
                  <c:v>1374</c:v>
                </c:pt>
                <c:pt idx="21">
                  <c:v>1466</c:v>
                </c:pt>
                <c:pt idx="22">
                  <c:v>1323</c:v>
                </c:pt>
                <c:pt idx="23">
                  <c:v>1399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38-5A44-AEED-5F2D170EE1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Used Applications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660</c:v>
                </c:pt>
                <c:pt idx="1">
                  <c:v>628</c:v>
                </c:pt>
                <c:pt idx="2">
                  <c:v>686</c:v>
                </c:pt>
                <c:pt idx="3">
                  <c:v>649</c:v>
                </c:pt>
                <c:pt idx="4">
                  <c:v>672</c:v>
                </c:pt>
                <c:pt idx="5">
                  <c:v>712</c:v>
                </c:pt>
                <c:pt idx="6">
                  <c:v>678</c:v>
                </c:pt>
                <c:pt idx="7">
                  <c:v>683</c:v>
                </c:pt>
                <c:pt idx="8">
                  <c:v>664</c:v>
                </c:pt>
                <c:pt idx="9">
                  <c:v>694</c:v>
                </c:pt>
                <c:pt idx="10">
                  <c:v>698</c:v>
                </c:pt>
                <c:pt idx="11">
                  <c:v>654</c:v>
                </c:pt>
                <c:pt idx="12">
                  <c:v>681</c:v>
                </c:pt>
                <c:pt idx="13">
                  <c:v>647</c:v>
                </c:pt>
                <c:pt idx="14">
                  <c:v>662</c:v>
                </c:pt>
                <c:pt idx="15">
                  <c:v>659</c:v>
                </c:pt>
                <c:pt idx="16">
                  <c:v>706</c:v>
                </c:pt>
                <c:pt idx="17">
                  <c:v>703</c:v>
                </c:pt>
                <c:pt idx="18">
                  <c:v>647</c:v>
                </c:pt>
                <c:pt idx="19">
                  <c:v>728</c:v>
                </c:pt>
                <c:pt idx="20">
                  <c:v>672</c:v>
                </c:pt>
                <c:pt idx="21">
                  <c:v>738</c:v>
                </c:pt>
                <c:pt idx="22">
                  <c:v>670</c:v>
                </c:pt>
                <c:pt idx="23">
                  <c:v>683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938-5A44-AEED-5F2D170EE1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82275648"/>
        <c:axId val="1385111968"/>
      </c:lineChart>
      <c:catAx>
        <c:axId val="1382275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5111968"/>
        <c:crosses val="autoZero"/>
        <c:auto val="1"/>
        <c:lblAlgn val="ctr"/>
        <c:lblOffset val="100"/>
        <c:noMultiLvlLbl val="0"/>
      </c:catAx>
      <c:valAx>
        <c:axId val="1385111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2275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Approved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</c:strCache>
            </c:strRef>
          </c:cat>
          <c:val>
            <c:numRef>
              <c:f>Sheet1!$B$2:$B$25</c:f>
              <c:numCache>
                <c:formatCode>#,##0</c:formatCode>
                <c:ptCount val="24"/>
                <c:pt idx="0">
                  <c:v>3122.2472889999999</c:v>
                </c:pt>
                <c:pt idx="1">
                  <c:v>3155.0904839999998</c:v>
                </c:pt>
                <c:pt idx="2">
                  <c:v>3111.5554729999999</c:v>
                </c:pt>
                <c:pt idx="3">
                  <c:v>3098.9781929999999</c:v>
                </c:pt>
                <c:pt idx="4">
                  <c:v>3052.0928680000002</c:v>
                </c:pt>
                <c:pt idx="5">
                  <c:v>3125.3652050000001</c:v>
                </c:pt>
                <c:pt idx="6">
                  <c:v>3164.2325580000002</c:v>
                </c:pt>
                <c:pt idx="7">
                  <c:v>3128.9064539999999</c:v>
                </c:pt>
                <c:pt idx="8">
                  <c:v>3125.45037</c:v>
                </c:pt>
                <c:pt idx="9">
                  <c:v>3148.2292550000002</c:v>
                </c:pt>
                <c:pt idx="10">
                  <c:v>3071.7153130000002</c:v>
                </c:pt>
                <c:pt idx="11">
                  <c:v>3101.031641</c:v>
                </c:pt>
                <c:pt idx="12">
                  <c:v>3130.035277</c:v>
                </c:pt>
                <c:pt idx="13">
                  <c:v>3082.333333</c:v>
                </c:pt>
                <c:pt idx="14">
                  <c:v>3139.4339479999999</c:v>
                </c:pt>
                <c:pt idx="15">
                  <c:v>3159.1169500000001</c:v>
                </c:pt>
                <c:pt idx="16">
                  <c:v>3172.4131560000001</c:v>
                </c:pt>
                <c:pt idx="17">
                  <c:v>3117.8070429999998</c:v>
                </c:pt>
                <c:pt idx="18">
                  <c:v>3055.3227000000002</c:v>
                </c:pt>
                <c:pt idx="19">
                  <c:v>3112.7026460000002</c:v>
                </c:pt>
                <c:pt idx="20">
                  <c:v>3138.3238719999999</c:v>
                </c:pt>
                <c:pt idx="21">
                  <c:v>3112.264666</c:v>
                </c:pt>
                <c:pt idx="22">
                  <c:v>3146.4610729999999</c:v>
                </c:pt>
                <c:pt idx="23">
                  <c:v>3168.4446029999999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75-2541-BC9A-EB02F928BC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Used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</c:strCache>
            </c:strRef>
          </c:cat>
          <c:val>
            <c:numRef>
              <c:f>Sheet1!$C$2:$C$25</c:f>
              <c:numCache>
                <c:formatCode>#,##0</c:formatCode>
                <c:ptCount val="24"/>
                <c:pt idx="0">
                  <c:v>1633.737879</c:v>
                </c:pt>
                <c:pt idx="1">
                  <c:v>1585.361465</c:v>
                </c:pt>
                <c:pt idx="2">
                  <c:v>1610.3381919999999</c:v>
                </c:pt>
                <c:pt idx="3">
                  <c:v>1610.9969180000001</c:v>
                </c:pt>
                <c:pt idx="4">
                  <c:v>1625.9285709999999</c:v>
                </c:pt>
                <c:pt idx="5">
                  <c:v>1597.436798</c:v>
                </c:pt>
                <c:pt idx="6">
                  <c:v>1632.600295</c:v>
                </c:pt>
                <c:pt idx="7">
                  <c:v>1581.15959</c:v>
                </c:pt>
                <c:pt idx="8">
                  <c:v>1650.415663</c:v>
                </c:pt>
                <c:pt idx="9">
                  <c:v>1631.0489909999999</c:v>
                </c:pt>
                <c:pt idx="10">
                  <c:v>1586.5802289999999</c:v>
                </c:pt>
                <c:pt idx="11">
                  <c:v>1623.287462</c:v>
                </c:pt>
                <c:pt idx="12">
                  <c:v>1605.6681349999999</c:v>
                </c:pt>
                <c:pt idx="13">
                  <c:v>1627.2550229999999</c:v>
                </c:pt>
                <c:pt idx="14">
                  <c:v>1634.2809669999999</c:v>
                </c:pt>
                <c:pt idx="15">
                  <c:v>1649.8361150000001</c:v>
                </c:pt>
                <c:pt idx="16">
                  <c:v>1645.024079</c:v>
                </c:pt>
                <c:pt idx="17">
                  <c:v>1615.2446660000001</c:v>
                </c:pt>
                <c:pt idx="18">
                  <c:v>1641.9134469999999</c:v>
                </c:pt>
                <c:pt idx="19">
                  <c:v>1575.769231</c:v>
                </c:pt>
                <c:pt idx="20">
                  <c:v>1660.333333</c:v>
                </c:pt>
                <c:pt idx="21">
                  <c:v>1596.0338750000001</c:v>
                </c:pt>
                <c:pt idx="22">
                  <c:v>1585.055224</c:v>
                </c:pt>
                <c:pt idx="23">
                  <c:v>1614.508053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75-2541-BC9A-EB02F928BC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4693456"/>
        <c:axId val="1419442944"/>
      </c:lineChart>
      <c:catAx>
        <c:axId val="127469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9442944"/>
        <c:crosses val="autoZero"/>
        <c:auto val="1"/>
        <c:lblAlgn val="ctr"/>
        <c:lblOffset val="100"/>
        <c:noMultiLvlLbl val="0"/>
      </c:catAx>
      <c:valAx>
        <c:axId val="141944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693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 Spend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Referral Marketing</c:v>
                </c:pt>
                <c:pt idx="1">
                  <c:v>Facebook Ads</c:v>
                </c:pt>
                <c:pt idx="2">
                  <c:v>Instagram Ads</c:v>
                </c:pt>
                <c:pt idx="3">
                  <c:v>LinkedIn Ads</c:v>
                </c:pt>
                <c:pt idx="4">
                  <c:v>Direct Mail</c:v>
                </c:pt>
                <c:pt idx="5">
                  <c:v>Email Marketing</c:v>
                </c:pt>
                <c:pt idx="6">
                  <c:v>TV Ads</c:v>
                </c:pt>
                <c:pt idx="7">
                  <c:v>SEO</c:v>
                </c:pt>
                <c:pt idx="8">
                  <c:v>Content Marketing</c:v>
                </c:pt>
                <c:pt idx="9">
                  <c:v>Trade Shows</c:v>
                </c:pt>
                <c:pt idx="10">
                  <c:v>Twitter Ads</c:v>
                </c:pt>
                <c:pt idx="11">
                  <c:v>Influencer Marketing</c:v>
                </c:pt>
                <c:pt idx="12">
                  <c:v>Affiliate Marketing</c:v>
                </c:pt>
                <c:pt idx="13">
                  <c:v>Google Ads</c:v>
                </c:pt>
              </c:strCache>
            </c:strRef>
          </c:cat>
          <c:val>
            <c:numRef>
              <c:f>Sheet1!$B$2:$B$15</c:f>
              <c:numCache>
                <c:formatCode>#,##0</c:formatCode>
                <c:ptCount val="14"/>
                <c:pt idx="0">
                  <c:v>394522</c:v>
                </c:pt>
                <c:pt idx="1">
                  <c:v>704391</c:v>
                </c:pt>
                <c:pt idx="2">
                  <c:v>1042189</c:v>
                </c:pt>
                <c:pt idx="3">
                  <c:v>1404633</c:v>
                </c:pt>
                <c:pt idx="4">
                  <c:v>1934130</c:v>
                </c:pt>
                <c:pt idx="5">
                  <c:v>1944841</c:v>
                </c:pt>
                <c:pt idx="6">
                  <c:v>2539860</c:v>
                </c:pt>
                <c:pt idx="7">
                  <c:v>2703354</c:v>
                </c:pt>
                <c:pt idx="8">
                  <c:v>2728930</c:v>
                </c:pt>
                <c:pt idx="9">
                  <c:v>3344380</c:v>
                </c:pt>
                <c:pt idx="10">
                  <c:v>3996752</c:v>
                </c:pt>
                <c:pt idx="11">
                  <c:v>4684571</c:v>
                </c:pt>
                <c:pt idx="12">
                  <c:v>4708501</c:v>
                </c:pt>
                <c:pt idx="13">
                  <c:v>4798711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2A-3F43-86E4-6C43A95D1D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Used Dollars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Referral Marketing</c:v>
                </c:pt>
                <c:pt idx="1">
                  <c:v>Facebook Ads</c:v>
                </c:pt>
                <c:pt idx="2">
                  <c:v>Instagram Ads</c:v>
                </c:pt>
                <c:pt idx="3">
                  <c:v>LinkedIn Ads</c:v>
                </c:pt>
                <c:pt idx="4">
                  <c:v>Direct Mail</c:v>
                </c:pt>
                <c:pt idx="5">
                  <c:v>Email Marketing</c:v>
                </c:pt>
                <c:pt idx="6">
                  <c:v>TV Ads</c:v>
                </c:pt>
                <c:pt idx="7">
                  <c:v>SEO</c:v>
                </c:pt>
                <c:pt idx="8">
                  <c:v>Content Marketing</c:v>
                </c:pt>
                <c:pt idx="9">
                  <c:v>Trade Shows</c:v>
                </c:pt>
                <c:pt idx="10">
                  <c:v>Twitter Ads</c:v>
                </c:pt>
                <c:pt idx="11">
                  <c:v>Influencer Marketing</c:v>
                </c:pt>
                <c:pt idx="12">
                  <c:v>Affiliate Marketing</c:v>
                </c:pt>
                <c:pt idx="13">
                  <c:v>Google Ads</c:v>
                </c:pt>
              </c:strCache>
            </c:strRef>
          </c:cat>
          <c:val>
            <c:numRef>
              <c:f>Sheet1!$C$2:$C$15</c:f>
              <c:numCache>
                <c:formatCode>#,##0</c:formatCode>
                <c:ptCount val="14"/>
                <c:pt idx="0">
                  <c:v>1201689</c:v>
                </c:pt>
                <c:pt idx="1">
                  <c:v>1199160</c:v>
                </c:pt>
                <c:pt idx="2">
                  <c:v>1170408</c:v>
                </c:pt>
                <c:pt idx="3">
                  <c:v>1196927</c:v>
                </c:pt>
                <c:pt idx="4">
                  <c:v>1147728</c:v>
                </c:pt>
                <c:pt idx="5">
                  <c:v>1111969</c:v>
                </c:pt>
                <c:pt idx="6">
                  <c:v>1201906</c:v>
                </c:pt>
                <c:pt idx="7">
                  <c:v>1121866</c:v>
                </c:pt>
                <c:pt idx="8">
                  <c:v>1202427</c:v>
                </c:pt>
                <c:pt idx="9">
                  <c:v>1281597</c:v>
                </c:pt>
                <c:pt idx="10">
                  <c:v>1226074</c:v>
                </c:pt>
                <c:pt idx="11">
                  <c:v>1164491</c:v>
                </c:pt>
                <c:pt idx="12">
                  <c:v>1174320</c:v>
                </c:pt>
                <c:pt idx="13">
                  <c:v>1247539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2A-3F43-86E4-6C43A95D1D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99511936"/>
        <c:axId val="1437384672"/>
      </c:barChart>
      <c:catAx>
        <c:axId val="139951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384672"/>
        <c:crosses val="autoZero"/>
        <c:auto val="1"/>
        <c:lblAlgn val="ctr"/>
        <c:lblOffset val="100"/>
        <c:noMultiLvlLbl val="0"/>
      </c:catAx>
      <c:valAx>
        <c:axId val="1437384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951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203</c:v>
                </c:pt>
                <c:pt idx="1">
                  <c:v>211</c:v>
                </c:pt>
                <c:pt idx="2">
                  <c:v>6</c:v>
                </c:pt>
                <c:pt idx="3">
                  <c:v>38</c:v>
                </c:pt>
                <c:pt idx="4">
                  <c:v>48</c:v>
                </c:pt>
                <c:pt idx="5">
                  <c:v>13</c:v>
                </c:pt>
                <c:pt idx="6">
                  <c:v>247</c:v>
                </c:pt>
                <c:pt idx="7">
                  <c:v>221</c:v>
                </c:pt>
                <c:pt idx="8">
                  <c:v>126</c:v>
                </c:pt>
                <c:pt idx="9">
                  <c:v>107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149</c:v>
                </c:pt>
                <c:pt idx="1">
                  <c:v>119</c:v>
                </c:pt>
                <c:pt idx="2">
                  <c:v>113</c:v>
                </c:pt>
                <c:pt idx="3">
                  <c:v>122</c:v>
                </c:pt>
                <c:pt idx="4">
                  <c:v>129</c:v>
                </c:pt>
                <c:pt idx="5">
                  <c:v>145</c:v>
                </c:pt>
                <c:pt idx="6">
                  <c:v>175</c:v>
                </c:pt>
                <c:pt idx="7">
                  <c:v>130</c:v>
                </c:pt>
                <c:pt idx="8">
                  <c:v>129</c:v>
                </c:pt>
                <c:pt idx="9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3D-A24C-8827-51DE9466DD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1A71F87-E40B-D24D-BAA2-9184CEAFF03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363D-A24C-8827-51DE9466DD3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68E8CF2-4720-BA47-9927-713ADA5B66B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63D-A24C-8827-51DE9466DD3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DACDD1E-7148-D146-81C9-339363D9C45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363D-A24C-8827-51DE9466DD3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BE9636E-268B-B443-B383-CDD389CDE9D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363D-A24C-8827-51DE9466DD3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C681C26F-7861-3943-9483-DEEEC68DAAB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363D-A24C-8827-51DE9466DD3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42F19DD-3FB5-2F4F-B8BE-8DC2262548F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363D-A24C-8827-51DE9466DD3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152842D0-7E42-394C-AFE1-7CD7963EF70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63D-A24C-8827-51DE9466DD3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7DC9D3D5-50FD-4745-A4B1-FC7E78FD88C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363D-A24C-8827-51DE9466DD3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ACEF3482-0F79-1B49-9F13-3E247365215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63D-A24C-8827-51DE9466DD3C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0271018C-85B5-D44F-93E6-1670586DFEE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363D-A24C-8827-51DE9466DD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822960" anchor="t" anchorCtr="0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203</c:v>
                </c:pt>
                <c:pt idx="1">
                  <c:v>211</c:v>
                </c:pt>
                <c:pt idx="2">
                  <c:v>6</c:v>
                </c:pt>
                <c:pt idx="3">
                  <c:v>38</c:v>
                </c:pt>
                <c:pt idx="4">
                  <c:v>48</c:v>
                </c:pt>
                <c:pt idx="5">
                  <c:v>13</c:v>
                </c:pt>
                <c:pt idx="6">
                  <c:v>247</c:v>
                </c:pt>
                <c:pt idx="7">
                  <c:v>221</c:v>
                </c:pt>
                <c:pt idx="8">
                  <c:v>126</c:v>
                </c:pt>
                <c:pt idx="9">
                  <c:v>107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90</c:v>
                </c:pt>
                <c:pt idx="1">
                  <c:v>71</c:v>
                </c:pt>
                <c:pt idx="2">
                  <c:v>66</c:v>
                </c:pt>
                <c:pt idx="3">
                  <c:v>71</c:v>
                </c:pt>
                <c:pt idx="4">
                  <c:v>75</c:v>
                </c:pt>
                <c:pt idx="5">
                  <c:v>84</c:v>
                </c:pt>
                <c:pt idx="6">
                  <c:v>101</c:v>
                </c:pt>
                <c:pt idx="7">
                  <c:v>75</c:v>
                </c:pt>
                <c:pt idx="8">
                  <c:v>74</c:v>
                </c:pt>
                <c:pt idx="9">
                  <c:v>81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Sheet1!$D$2:$D$11</c15:f>
                <c15:dlblRangeCache>
                  <c:ptCount val="10"/>
                  <c:pt idx="0">
                    <c:v>60.4%</c:v>
                  </c:pt>
                  <c:pt idx="1">
                    <c:v>59.7%</c:v>
                  </c:pt>
                  <c:pt idx="2">
                    <c:v>58.4%</c:v>
                  </c:pt>
                  <c:pt idx="3">
                    <c:v>58.2%</c:v>
                  </c:pt>
                  <c:pt idx="4">
                    <c:v>58.1%</c:v>
                  </c:pt>
                  <c:pt idx="5">
                    <c:v>57.9%</c:v>
                  </c:pt>
                  <c:pt idx="6">
                    <c:v>57.7%</c:v>
                  </c:pt>
                  <c:pt idx="7">
                    <c:v>57.7%</c:v>
                  </c:pt>
                  <c:pt idx="8">
                    <c:v>57.4%</c:v>
                  </c:pt>
                  <c:pt idx="9">
                    <c:v>57.0%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363D-A24C-8827-51DE9466DD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10383040"/>
        <c:axId val="1484251440"/>
      </c:barChart>
      <c:catAx>
        <c:axId val="1510383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4251440"/>
        <c:crosses val="autoZero"/>
        <c:auto val="1"/>
        <c:lblAlgn val="ctr"/>
        <c:lblOffset val="100"/>
        <c:noMultiLvlLbl val="0"/>
      </c:catAx>
      <c:valAx>
        <c:axId val="1484251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038304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5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72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8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7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0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5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88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7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0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8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0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C3EAF-974A-2043-82F0-50BEE941BB9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5F241-CB41-B34B-BFA9-7468396C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1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B749C-99E9-72C7-3ED2-055091BDB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Snap Finance Take Home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8CA18-A684-C281-603B-6AAF27C73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Sam Henderson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24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2377-CF6E-FEC9-994E-D6055AC54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27E79-A6BE-A2E7-1B70-290391053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This presentation will go through the 5 tasks listed in the Snap Finance Take Home Document.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3600" dirty="0"/>
              <a:t>Each slide will respond to a specific task and will include a chart and commentary relating to KPIs, Historical Trends, and other related data.</a:t>
            </a:r>
          </a:p>
        </p:txBody>
      </p:sp>
    </p:spTree>
    <p:extLst>
      <p:ext uri="{BB962C8B-B14F-4D97-AF65-F5344CB8AC3E}">
        <p14:creationId xmlns:p14="http://schemas.microsoft.com/office/powerpoint/2010/main" val="265834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26AF-9E1A-7F11-B092-E048C1E2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1: Calculate Application Trends</a:t>
            </a:r>
            <a:br>
              <a:rPr lang="en-US" dirty="0"/>
            </a:br>
            <a:r>
              <a:rPr lang="en-US" sz="2000" dirty="0"/>
              <a:t>Applications, Approved Applications, and Used Applications have remained stable from January 2022 through December 2023.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754892-E876-7AB6-AB53-0156389489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05452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420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17B0-409F-2602-819D-B4AE5605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2: Average Approved vs Average Used</a:t>
            </a:r>
            <a:br>
              <a:rPr lang="en-US" dirty="0"/>
            </a:br>
            <a:r>
              <a:rPr lang="en-US" sz="2000" dirty="0"/>
              <a:t>For Approved Applications that Used Funds, average utilization ranged from 50.3% to 54.1% between January 2022 and December 2023.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22BBAA-988A-06B8-E38E-24F5C58003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1104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6194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207C951-0E90-54BE-E17C-53646D39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3: Table with Store Level KPIs</a:t>
            </a:r>
            <a:br>
              <a:rPr lang="en-US" dirty="0"/>
            </a:br>
            <a:r>
              <a:rPr lang="en-US" sz="2200" dirty="0"/>
              <a:t>The table below shows the Top 10 stores based on Total Used Amount, along with 6 other Store Level KPIs.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19AFDA-5BF2-5AB7-E2CB-4B7AB7DA4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5524185"/>
              </p:ext>
            </p:extLst>
          </p:nvPr>
        </p:nvGraphicFramePr>
        <p:xfrm>
          <a:off x="220536" y="1948688"/>
          <a:ext cx="11750928" cy="4095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622">
                  <a:extLst>
                    <a:ext uri="{9D8B030D-6E8A-4147-A177-3AD203B41FA5}">
                      <a16:colId xmlns:a16="http://schemas.microsoft.com/office/drawing/2014/main" val="1078285066"/>
                    </a:ext>
                  </a:extLst>
                </a:gridCol>
                <a:gridCol w="1555099">
                  <a:extLst>
                    <a:ext uri="{9D8B030D-6E8A-4147-A177-3AD203B41FA5}">
                      <a16:colId xmlns:a16="http://schemas.microsoft.com/office/drawing/2014/main" val="1263209237"/>
                    </a:ext>
                  </a:extLst>
                </a:gridCol>
                <a:gridCol w="1224677">
                  <a:extLst>
                    <a:ext uri="{9D8B030D-6E8A-4147-A177-3AD203B41FA5}">
                      <a16:colId xmlns:a16="http://schemas.microsoft.com/office/drawing/2014/main" val="1999423871"/>
                    </a:ext>
                  </a:extLst>
                </a:gridCol>
                <a:gridCol w="1416616">
                  <a:extLst>
                    <a:ext uri="{9D8B030D-6E8A-4147-A177-3AD203B41FA5}">
                      <a16:colId xmlns:a16="http://schemas.microsoft.com/office/drawing/2014/main" val="1714999502"/>
                    </a:ext>
                  </a:extLst>
                </a:gridCol>
                <a:gridCol w="737411">
                  <a:extLst>
                    <a:ext uri="{9D8B030D-6E8A-4147-A177-3AD203B41FA5}">
                      <a16:colId xmlns:a16="http://schemas.microsoft.com/office/drawing/2014/main" val="395630435"/>
                    </a:ext>
                  </a:extLst>
                </a:gridCol>
                <a:gridCol w="1002856">
                  <a:extLst>
                    <a:ext uri="{9D8B030D-6E8A-4147-A177-3AD203B41FA5}">
                      <a16:colId xmlns:a16="http://schemas.microsoft.com/office/drawing/2014/main" val="3095367409"/>
                    </a:ext>
                  </a:extLst>
                </a:gridCol>
                <a:gridCol w="2728359">
                  <a:extLst>
                    <a:ext uri="{9D8B030D-6E8A-4147-A177-3AD203B41FA5}">
                      <a16:colId xmlns:a16="http://schemas.microsoft.com/office/drawing/2014/main" val="545126730"/>
                    </a:ext>
                  </a:extLst>
                </a:gridCol>
                <a:gridCol w="2300288">
                  <a:extLst>
                    <a:ext uri="{9D8B030D-6E8A-4147-A177-3AD203B41FA5}">
                      <a16:colId xmlns:a16="http://schemas.microsoft.com/office/drawing/2014/main" val="471790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  <a:latin typeface="+mj-lt"/>
                        </a:rPr>
                        <a:t>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  <a:latin typeface="+mj-lt"/>
                        </a:rPr>
                        <a:t>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  <a:latin typeface="+mj-lt"/>
                        </a:rP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  <a:latin typeface="+mj-lt"/>
                        </a:rPr>
                        <a:t>Approved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  <a:latin typeface="+mj-lt"/>
                        </a:rPr>
                        <a:t>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  <a:latin typeface="+mj-lt"/>
                        </a:rPr>
                        <a:t>Used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  <a:latin typeface="+mj-lt"/>
                        </a:rPr>
                        <a:t>Total_Approved_Amount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  <a:latin typeface="+mj-lt"/>
                        </a:rPr>
                        <a:t>Total_Used_Amount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247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57.7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543,201.0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157,407.0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117103"/>
                  </a:ext>
                </a:extLst>
              </a:tr>
              <a:tr h="3870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265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53.6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426,954.0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148,079.0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01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284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50.0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437,801.0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142,274.0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25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52.6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55.6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487,542.0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142,057.0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843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57.7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402,020.0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137,689.0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99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278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57.9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456,719.0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135,526.0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07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282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52.8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60.4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457,473.0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135,373.0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85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278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49.0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487,954.0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133,215.0</a:t>
                      </a:r>
                      <a:endParaRPr lang="en-US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167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287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486,626.0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132,396.0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305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292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+mj-lt"/>
                        </a:rPr>
                        <a:t>55.2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446,946.0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+mj-lt"/>
                        </a:rPr>
                        <a:t>132,227.0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212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522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3634-C049-1618-7D6C-27E5A25E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#4: Marketing Strategies ROI</a:t>
            </a:r>
            <a:br>
              <a:rPr lang="en-US" dirty="0"/>
            </a:br>
            <a:r>
              <a:rPr lang="en-US" sz="2000" dirty="0"/>
              <a:t>Only three Marketing Strategies generated more Dollars Used than their associated spend: Referral Marketing, Facebook Ads, and Instagram Ads.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BEED98-0B7B-183C-E155-B3FD86815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5244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5938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2BA4-A590-E66B-D833-47AB2602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Task #5: Stores That Convert</a:t>
            </a:r>
            <a:br>
              <a:rPr lang="en-US" dirty="0"/>
            </a:br>
            <a:r>
              <a:rPr lang="en-US" sz="2000" dirty="0"/>
              <a:t>Store-level conversion of approved dollars into used dollars ranges from as high as 60% to as low as 36% suggesting that there may be practices at higher-performing stores worth looking into. Listed below are the top 10 performing stores by Usage Rate.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7178F3-175F-C043-10BE-0D76B9D7C1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2528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6861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1108</TotalTime>
  <Words>322</Words>
  <Application>Microsoft Macintosh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Theme</vt:lpstr>
      <vt:lpstr>Snap Finance Take Home</vt:lpstr>
      <vt:lpstr>Introduction</vt:lpstr>
      <vt:lpstr>Task 1: Calculate Application Trends Applications, Approved Applications, and Used Applications have remained stable from January 2022 through December 2023.</vt:lpstr>
      <vt:lpstr>Task 2: Average Approved vs Average Used For Approved Applications that Used Funds, average utilization ranged from 50.3% to 54.1% between January 2022 and December 2023.</vt:lpstr>
      <vt:lpstr>Task 3: Table with Store Level KPIs The table below shows the Top 10 stores based on Total Used Amount, along with 6 other Store Level KPIs. </vt:lpstr>
      <vt:lpstr>Task #4: Marketing Strategies ROI Only three Marketing Strategies generated more Dollars Used than their associated spend: Referral Marketing, Facebook Ads, and Instagram Ads.</vt:lpstr>
      <vt:lpstr>Task #5: Stores That Convert Store-level conversion of approved dollars into used dollars ranges from as high as 60% to as low as 36% suggesting that there may be practices at higher-performing stores worth looking into. Listed below are the top 10 performing stores by Usage Rate.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Henderson</dc:creator>
  <cp:lastModifiedBy>Samuel Henderson</cp:lastModifiedBy>
  <cp:revision>1</cp:revision>
  <dcterms:created xsi:type="dcterms:W3CDTF">2025-12-30T02:11:35Z</dcterms:created>
  <dcterms:modified xsi:type="dcterms:W3CDTF">2025-12-30T20:40:07Z</dcterms:modified>
</cp:coreProperties>
</file>